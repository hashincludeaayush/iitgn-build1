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Plan gap (test lines)</c:v>
                </c:pt>
              </c:strCache>
            </c:strRef>
          </c:tx>
          <c:spPr>
            <a:solidFill>
              <a:srgbClr val="4E38AB"/>
            </a:solidFill>
          </c:spPr>
          <c:cat>
            <c:strRef>
              <c:f>Sheet1!$A$2:$A$7</c:f>
              <c:strCache>
                <c:ptCount val="6"/>
                <c:pt idx="0">
                  <c:v>Ahmedabad</c:v>
                </c:pt>
                <c:pt idx="1">
                  <c:v>Pune</c:v>
                </c:pt>
                <c:pt idx="2">
                  <c:v>Hyderabad</c:v>
                </c:pt>
                <c:pt idx="3">
                  <c:v>Jaipur</c:v>
                </c:pt>
                <c:pt idx="4">
                  <c:v>Bengaluru</c:v>
                </c:pt>
                <c:pt idx="5">
                  <c:v>Chennai</c:v>
                </c:pt>
              </c:strCache>
            </c:strRef>
          </c:cat>
          <c:val>
            <c:numRef>
              <c:f>Sheet1!$B$2:$B$7</c:f>
              <c:numCache>
                <c:formatCode>General</c:formatCode>
                <c:ptCount val="6"/>
                <c:pt idx="0">
                  <c:v>6250</c:v>
                </c:pt>
                <c:pt idx="1">
                  <c:v>7036</c:v>
                </c:pt>
                <c:pt idx="2">
                  <c:v>8290</c:v>
                </c:pt>
                <c:pt idx="3">
                  <c:v>12259</c:v>
                </c:pt>
                <c:pt idx="4">
                  <c:v>13112</c:v>
                </c:pt>
                <c:pt idx="5">
                  <c:v>13410</c:v>
                </c:pt>
              </c:numCache>
            </c:numRef>
          </c:val>
        </c:ser>
        <c:dLbls>
          <c:numFmt formatCode="#,##0" sourceLinked="0"/>
          <c:txPr>
            <a:bodyPr/>
            <a:lstStyle/>
            <a:p>
              <a:pPr>
                <a:defRPr sz="1050" b="1">
                  <a:solidFill>
                    <a:srgbClr val="1A1440"/>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none"/>
        <c:minorTickMark val="none"/>
        <c:tickLblPos val="nextTo"/>
        <c:txPr>
          <a:bodyPr/>
          <a:lstStyle/>
          <a:p>
            <a:pPr>
              <a:defRPr sz="1050">
                <a:solidFill>
                  <a:srgbClr val="1A1440"/>
                </a:solidFill>
                <a:latin typeface="Aria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6421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question and the claim, nothing else. Twenty seconds. The cover is read, not presented.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Her words first, then the translation in one line, then the decision. If the panel does not know what decision hangs on your answer by the end of this slide, nothing after it matters.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Point at two numbers on the picture, the two that carry the claim. Do not read the diagram aloud.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sentence. Stop. Count to two. The silence is the point; the slide has one sentence on it so the room reads it twice.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Each number with its denominator, said aloud. Point at the chart's axis label where the denominator is written. This is the slide the finance controller checks against the decisions log.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One caveat, chosen, with its size. One rejected alternative from the approach log. This slide is where the panel decides whether you thought or just computed.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End on the cost of being wrong. No thanks, no summary, no inspirational closing line. Then say 'questions' and stop talking.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during questions. When asked 'why this and not that', open the approach-log row on screen rather than answering from memory.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shown only if the panel asks. Do not present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shown only if the panel asks. Do not present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itgn_seal.png"/>
          <p:cNvPicPr>
            <a:picLocks noChangeAspect="1"/>
          </p:cNvPicPr>
          <p:nvPr/>
        </p:nvPicPr>
        <p:blipFill>
          <a:blip r:embed="rId3"/>
          <a:stretch>
            <a:fillRect/>
          </a:stretch>
        </p:blipFill>
        <p:spPr>
          <a:xfrm>
            <a:off x="548640" y="457200"/>
            <a:ext cx="914400" cy="914400"/>
          </a:xfrm>
          <a:prstGeom prst="rect">
            <a:avLst/>
          </a:prstGeom>
        </p:spPr>
      </p:pic>
      <p:sp>
        <p:nvSpPr>
          <p:cNvPr id="4" name="TextBox 3"/>
          <p:cNvSpPr txBox="1"/>
          <p:nvPr/>
        </p:nvSpPr>
        <p:spPr>
          <a:xfrm>
            <a:off x="1645920" y="502920"/>
            <a:ext cx="8229600" cy="457200"/>
          </a:xfrm>
          <a:prstGeom prst="rect">
            <a:avLst/>
          </a:prstGeom>
          <a:noFill/>
        </p:spPr>
        <p:txBody>
          <a:bodyPr wrap="square">
            <a:spAutoFit/>
          </a:bodyPr>
          <a:lstStyle/>
          <a:p>
            <a:pPr algn="l"/>
            <a:r>
              <a:rPr sz="1100" b="1">
                <a:solidFill>
                  <a:srgbClr val="FFFFFF"/>
                </a:solidFill>
                <a:latin typeface="Arial"/>
              </a:rPr>
              <a:t>INDIAN INSTITUTE OF TECHNOLOGY GANDHINAGAR</a:t>
            </a:r>
          </a:p>
        </p:txBody>
      </p:sp>
      <p:sp>
        <p:nvSpPr>
          <p:cNvPr id="5" name="TextBox 4"/>
          <p:cNvSpPr txBox="1"/>
          <p:nvPr/>
        </p:nvSpPr>
        <p:spPr>
          <a:xfrm>
            <a:off x="1645920" y="868680"/>
            <a:ext cx="8229600" cy="457200"/>
          </a:xfrm>
          <a:prstGeom prst="rect">
            <a:avLst/>
          </a:prstGeom>
          <a:noFill/>
        </p:spPr>
        <p:txBody>
          <a:bodyPr wrap="square">
            <a:spAutoFit/>
          </a:bodyPr>
          <a:lstStyle/>
          <a:p>
            <a:pPr algn="l"/>
            <a:r>
              <a:rPr sz="1100" b="0">
                <a:solidFill>
                  <a:srgbClr val="D9A7FF"/>
                </a:solidFill>
                <a:latin typeface="Arial"/>
              </a:rPr>
              <a:t>PG Diploma in AI-ML and Agentic AI Engineering · Cohort 2 · Build 1</a:t>
            </a:r>
          </a:p>
        </p:txBody>
      </p:sp>
      <p:sp>
        <p:nvSpPr>
          <p:cNvPr id="6" name="TextBox 5"/>
          <p:cNvSpPr txBox="1"/>
          <p:nvPr/>
        </p:nvSpPr>
        <p:spPr>
          <a:xfrm>
            <a:off x="548640" y="2194560"/>
            <a:ext cx="10972800" cy="457200"/>
          </a:xfrm>
          <a:prstGeom prst="rect">
            <a:avLst/>
          </a:prstGeom>
          <a:noFill/>
        </p:spPr>
        <p:txBody>
          <a:bodyPr wrap="square">
            <a:spAutoFit/>
          </a:bodyPr>
          <a:lstStyle/>
          <a:p>
            <a:pPr algn="l"/>
            <a:r>
              <a:rPr sz="1200" b="1" i="0">
                <a:solidFill>
                  <a:srgbClr val="E9B04C"/>
                </a:solidFill>
                <a:latin typeface="Arial"/>
              </a:rPr>
              <a:t>BRIEF A · GROWTH</a:t>
            </a:r>
          </a:p>
        </p:txBody>
      </p:sp>
      <p:sp>
        <p:nvSpPr>
          <p:cNvPr id="7" name="TextBox 6"/>
          <p:cNvSpPr txBox="1"/>
          <p:nvPr/>
        </p:nvSpPr>
        <p:spPr>
          <a:xfrm>
            <a:off x="548640" y="2651760"/>
            <a:ext cx="10972800" cy="1463040"/>
          </a:xfrm>
          <a:prstGeom prst="rect">
            <a:avLst/>
          </a:prstGeom>
          <a:noFill/>
        </p:spPr>
        <p:txBody>
          <a:bodyPr wrap="square">
            <a:spAutoFit/>
          </a:bodyPr>
          <a:lstStyle/>
          <a:p>
            <a:pPr algn="l"/>
            <a:r>
              <a:rPr sz="2800" b="1" i="0">
                <a:solidFill>
                  <a:srgbClr val="FFFFFF"/>
                </a:solidFill>
                <a:latin typeface="Georgia"/>
              </a:rPr>
              <a:t>Which lever moved test volume in H1 2026 — patients, visits, or tests per visit — and what does that mean for the 60,357-line gap to plan?</a:t>
            </a:r>
          </a:p>
        </p:txBody>
      </p:sp>
      <p:sp>
        <p:nvSpPr>
          <p:cNvPr id="8" name="TextBox 7"/>
          <p:cNvSpPr txBox="1"/>
          <p:nvPr/>
        </p:nvSpPr>
        <p:spPr>
          <a:xfrm>
            <a:off x="548640" y="4206240"/>
            <a:ext cx="10058400" cy="731520"/>
          </a:xfrm>
          <a:prstGeom prst="rect">
            <a:avLst/>
          </a:prstGeom>
          <a:noFill/>
        </p:spPr>
        <p:txBody>
          <a:bodyPr wrap="square">
            <a:spAutoFit/>
          </a:bodyPr>
          <a:lstStyle/>
          <a:p>
            <a:pPr algn="l"/>
            <a:r>
              <a:rPr sz="1600" b="0" i="0">
                <a:solidFill>
                  <a:srgbClr val="DCD6F7"/>
                </a:solidFill>
                <a:latin typeface="Arial"/>
              </a:rPr>
              <a:t>Kalpa Health recorded 455,383 booking test lines in H1 2026, up from 433,611 in H1 2025 — growth of +21,772 lines, or +5.02% year on year. Sum of n_tests on validated bookings, full local H1 periods based on slot_at.</a:t>
            </a:r>
          </a:p>
        </p:txBody>
      </p:sp>
      <p:sp>
        <p:nvSpPr>
          <p:cNvPr id="9" name="TextBox 8"/>
          <p:cNvSpPr txBox="1"/>
          <p:nvPr/>
        </p:nvSpPr>
        <p:spPr>
          <a:xfrm>
            <a:off x="548640" y="5852160"/>
            <a:ext cx="10972800" cy="457200"/>
          </a:xfrm>
          <a:prstGeom prst="rect">
            <a:avLst/>
          </a:prstGeom>
          <a:noFill/>
        </p:spPr>
        <p:txBody>
          <a:bodyPr wrap="square">
            <a:spAutoFit/>
          </a:bodyPr>
          <a:lstStyle/>
          <a:p>
            <a:pPr algn="l"/>
            <a:r>
              <a:rPr sz="1200" b="0" i="0">
                <a:solidFill>
                  <a:srgbClr val="B9B0E6"/>
                </a:solidFill>
                <a:latin typeface="Arial"/>
              </a:rPr>
              <a:t>Data: Kalpa Health validated bookings · H1 2025 – H1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1 · THE QUESTION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1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i="0">
                <a:solidFill>
                  <a:srgbClr val="1A1440"/>
                </a:solidFill>
                <a:latin typeface="Georgia"/>
              </a:rPr>
              <a:t>Dr Menon's words, and our translation</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i="0">
                <a:solidFill>
                  <a:srgbClr val="1A1440"/>
                </a:solidFill>
                <a:latin typeface="Arial"/>
              </a:rPr>
              <a:t>Her words:</a:t>
            </a:r>
          </a:p>
          <a:p>
            <a:r>
              <a:rPr sz="1600" b="0" i="1">
                <a:solidFill>
                  <a:srgbClr val="1A1440"/>
                </a:solidFill>
                <a:latin typeface="Arial"/>
              </a:rPr>
              <a:t>“Volume grew five percent. We planned for nineteen. Before anyone touches a target, tell me which lever moved — patients, visits, or tests per visit.”</a:t>
            </a:r>
          </a:p>
          <a:p>
            <a:r>
              <a:rPr sz="1600" b="0" i="0">
                <a:solidFill>
                  <a:srgbClr val="1A1440"/>
                </a:solidFill>
                <a:latin typeface="Arial"/>
              </a:rPr>
              <a:t>Our translation:</a:t>
            </a:r>
          </a:p>
          <a:p>
            <a:r>
              <a:rPr sz="1600" b="0" i="0">
                <a:solidFill>
                  <a:srgbClr val="1A1440"/>
                </a:solidFill>
                <a:latin typeface="Arial"/>
              </a:rPr>
              <a:t>A driver tree: T = P × (B/P) × (T/B). It splits growth into people (distinct person IDs), visits per person, and test lines per visit.</a:t>
            </a:r>
          </a:p>
          <a:p>
            <a:r>
              <a:rPr sz="1600" b="0" i="0">
                <a:solidFill>
                  <a:srgbClr val="1A1440"/>
                </a:solidFill>
                <a:latin typeface="Arial"/>
              </a:rPr>
              <a:t>The decision it drives:</a:t>
            </a:r>
          </a:p>
          <a:p>
            <a:r>
              <a:rPr sz="1600" b="0" i="0">
                <a:solidFill>
                  <a:srgbClr val="1A1440"/>
                </a:solidFill>
                <a:latin typeface="Arial"/>
              </a:rPr>
              <a:t>Which interventions are even candidates to recover the 60,357-line provisional gap to plan (actual = 88.30% of the H1 2026 target). Nothing is changed on targets, staffing or reagent plans until the KPI definition, denominator and city crosswalk are signed off by their owners.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2 · THE PICTURE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i="0">
                <a:solidFill>
                  <a:srgbClr val="1A1440"/>
                </a:solidFill>
                <a:latin typeface="Georgia"/>
              </a:rPr>
              <a:t>The driver tree: T = P × (B/P) × (T/B), H1 2025 → H1 2026</a:t>
            </a:r>
          </a:p>
        </p:txBody>
      </p:sp>
      <p:sp>
        <p:nvSpPr>
          <p:cNvPr id="8"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017520"/>
            <a:ext cx="10515600" cy="1463040"/>
          </a:xfrm>
          <a:prstGeom prst="rect">
            <a:avLst/>
          </a:prstGeom>
          <a:noFill/>
        </p:spPr>
        <p:txBody>
          <a:bodyPr wrap="square">
            <a:spAutoFit/>
          </a:bodyPr>
          <a:lstStyle/>
          <a:p>
            <a:pPr algn="ctr"/>
            <a:r>
              <a:rPr sz="1500" b="0" i="0">
                <a:solidFill>
                  <a:srgbClr val="1A1440"/>
                </a:solidFill>
                <a:latin typeface="Arial"/>
              </a:rPr>
              <a:t>P · Distinct person IDs:  94,275 → 97,827   (+3.77% change · +3.70% log)</a:t>
            </a:r>
          </a:p>
          <a:p>
            <a:r>
              <a:rPr sz="1500" b="0" i="0">
                <a:solidFill>
                  <a:srgbClr val="1A1440"/>
                </a:solidFill>
                <a:latin typeface="Arial"/>
              </a:rPr>
              <a:t>B/P · Visits per person:  2.0027 → 1.9833   (-0.97% change · -0.97% log)</a:t>
            </a:r>
          </a:p>
          <a:p>
            <a:r>
              <a:rPr sz="1500" b="0" i="0">
                <a:solidFill>
                  <a:srgbClr val="1A1440"/>
                </a:solidFill>
                <a:latin typeface="Arial"/>
              </a:rPr>
              <a:t>T/B · Test lines per visit:  2.2966 → 2.3471   (+2.20% change · +2.17% log)</a:t>
            </a:r>
          </a:p>
          <a:p>
            <a:r>
              <a:rPr sz="1700" b="1" i="0">
                <a:solidFill>
                  <a:srgbClr val="1A0F5C"/>
                </a:solidFill>
                <a:latin typeface="Arial"/>
              </a:rPr>
              <a:t>=  T · Test lines (sum of n_tests):  433,611 → 455,383   +21,772 lines   +5.02%</a:t>
            </a:r>
          </a:p>
          <a:p>
            <a:r>
              <a:rPr sz="1200" b="0" i="0">
                <a:solidFill>
                  <a:srgbClr val="6B6690"/>
                </a:solidFill>
                <a:latin typeface="Arial"/>
              </a:rPr>
              <a:t>Descriptive accounting metrics, not causal effects. The variables are proxies for patients, visits and tests. Measure: sum of n_tests on validated bookings, superseded rescheduled records removed, full local H1 periods based on slot_at. Booking test lines are not proof of performed tests.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3 · THE CLAIM</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600" b="1" i="0">
                <a:solidFill>
                  <a:srgbClr val="1A1440"/>
                </a:solidFill>
                <a:latin typeface="Georgia"/>
              </a:rPr>
              <a:t>One sentence Dr Menon can say to her board</a:t>
            </a:r>
          </a:p>
        </p:txBody>
      </p:sp>
      <p:sp>
        <p:nvSpPr>
          <p:cNvPr id="8" name="Rounded Rectangle 7"/>
          <p:cNvSpPr/>
          <p:nvPr/>
        </p:nvSpPr>
        <p:spPr>
          <a:xfrm>
            <a:off x="457200" y="2011680"/>
            <a:ext cx="11247120" cy="2377440"/>
          </a:xfrm>
          <a:prstGeom prst="roundRect">
            <a:avLst>
              <a:gd name="adj" fmla="val 8000"/>
            </a:avLst>
          </a:prstGeom>
          <a:solidFill>
            <a:srgbClr val="EE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286000"/>
            <a:ext cx="10515600" cy="1828800"/>
          </a:xfrm>
          <a:prstGeom prst="rect">
            <a:avLst/>
          </a:prstGeom>
          <a:noFill/>
        </p:spPr>
        <p:txBody>
          <a:bodyPr wrap="square">
            <a:spAutoFit/>
          </a:bodyPr>
          <a:lstStyle/>
          <a:p>
            <a:pPr algn="ctr"/>
            <a:r>
              <a:rPr sz="2800" b="1" i="0">
                <a:solidFill>
                  <a:srgbClr val="1A0F5C"/>
                </a:solidFill>
                <a:latin typeface="Georgia"/>
              </a:rPr>
              <a:t>Kalpa Health recorded 455,383 booking test lines in H1 2026, up from 433,611 in H1 2025 — growth of +21,772 lines, or +5.02% year on year.</a:t>
            </a:r>
          </a:p>
        </p:txBody>
      </p:sp>
      <p:sp>
        <p:nvSpPr>
          <p:cNvPr id="10" name="TextBox 9"/>
          <p:cNvSpPr txBox="1"/>
          <p:nvPr/>
        </p:nvSpPr>
        <p:spPr>
          <a:xfrm>
            <a:off x="457200" y="4480560"/>
            <a:ext cx="11247120" cy="1463040"/>
          </a:xfrm>
          <a:prstGeom prst="rect">
            <a:avLst/>
          </a:prstGeom>
          <a:noFill/>
        </p:spPr>
        <p:txBody>
          <a:bodyPr wrap="square">
            <a:spAutoFit/>
          </a:bodyPr>
          <a:lstStyle/>
          <a:p>
            <a:pPr>
              <a:spcAft>
                <a:spcPts val="800"/>
              </a:spcAft>
            </a:pPr>
            <a:r>
              <a:rPr sz="1300" b="0" i="0">
                <a:solidFill>
                  <a:srgbClr val="6B6690"/>
                </a:solidFill>
                <a:latin typeface="Arial"/>
              </a:rPr>
              <a:t>Denominator and period: sum of n_tests on validated bookings, superseded rescheduled records removed; full local H1 periods based on slot_at. These are booking test lines — not tests performed.</a:t>
            </a:r>
          </a:p>
          <a:p>
            <a:pPr>
              <a:spcAft>
                <a:spcPts val="800"/>
              </a:spcAft>
            </a:pPr>
            <a:r>
              <a:rPr sz="1300" b="0" i="0">
                <a:solidFill>
                  <a:srgbClr val="6B6690"/>
                </a:solidFill>
                <a:latin typeface="Arial"/>
              </a:rPr>
              <a:t>Versus plan: the H1 2026 plan implied +18.94% relative to H1 2025 actual; actual reached 88.30% of target — a candidate shortfall of 60,357 lines (-11.70%).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4 · THE EVIDENCE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4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i="0">
                <a:solidFill>
                  <a:srgbClr val="1A1440"/>
                </a:solidFill>
                <a:latin typeface="Georgia"/>
              </a:rPr>
              <a:t>The numbers behind the claim, and the provisional plan gap by city</a:t>
            </a:r>
          </a:p>
        </p:txBody>
      </p:sp>
      <p:sp>
        <p:nvSpPr>
          <p:cNvPr id="8" name="TextBox 7"/>
          <p:cNvSpPr txBox="1"/>
          <p:nvPr/>
        </p:nvSpPr>
        <p:spPr>
          <a:xfrm>
            <a:off x="457200" y="1645920"/>
            <a:ext cx="4754880" cy="4114800"/>
          </a:xfrm>
          <a:prstGeom prst="rect">
            <a:avLst/>
          </a:prstGeom>
          <a:noFill/>
        </p:spPr>
        <p:txBody>
          <a:bodyPr wrap="square">
            <a:spAutoFit/>
          </a:bodyPr>
          <a:lstStyle/>
          <a:p>
            <a:pPr algn="l"/>
            <a:r>
              <a:rPr sz="1600" b="0" i="0">
                <a:solidFill>
                  <a:srgbClr val="1A1440"/>
                </a:solidFill>
                <a:latin typeface="Arial"/>
              </a:rPr>
              <a:t>Number 1: 433,611 test lines, H1 2025 (same rule)</a:t>
            </a:r>
          </a:p>
          <a:p>
            <a:r>
              <a:rPr sz="1600" b="0" i="0">
                <a:solidFill>
                  <a:srgbClr val="1A1440"/>
                </a:solidFill>
                <a:latin typeface="Arial"/>
              </a:rPr>
              <a:t>Number 2: 455,383 test lines, H1 2026 (same rule)</a:t>
            </a:r>
          </a:p>
          <a:p>
            <a:r>
              <a:rPr sz="1600" b="1" i="0">
                <a:solidFill>
                  <a:srgbClr val="1A1440"/>
                </a:solidFill>
                <a:latin typeface="Arial"/>
              </a:rPr>
              <a:t>Number 3: +21,772 lines, +5.02% year on year</a:t>
            </a:r>
          </a:p>
          <a:p>
            <a:r>
              <a:rPr sz="1600" b="0" i="0">
                <a:solidFill>
                  <a:srgbClr val="1A1440"/>
                </a:solidFill>
                <a:latin typeface="Arial"/>
              </a:rPr>
              <a:t>Number 4: plan implied +18.94%; actual = 88.30% of target, H1 2026</a:t>
            </a:r>
          </a:p>
          <a:p>
            <a:r>
              <a:rPr sz="1600" b="1" i="0">
                <a:solidFill>
                  <a:srgbClr val="1A1440"/>
                </a:solidFill>
                <a:latin typeface="Arial"/>
              </a:rPr>
              <a:t>Number 5: candidate shortfall 60,357 lines (-11.70%)</a:t>
            </a:r>
          </a:p>
          <a:p>
            <a:r>
              <a:rPr sz="1200" b="0" i="0">
                <a:solidFill>
                  <a:srgbClr val="6B6690"/>
                </a:solidFill>
                <a:latin typeface="Arial"/>
              </a:rPr>
              <a:t>Each number uses the same denominator: sum of n_tests on validated bookings, H1 periods based on slot_at.</a:t>
            </a:r>
          </a:p>
        </p:txBody>
      </p:sp>
      <p:sp>
        <p:nvSpPr>
          <p:cNvPr id="9" name="Rounded Rectangle 8"/>
          <p:cNvSpPr/>
          <p:nvPr/>
        </p:nvSpPr>
        <p:spPr>
          <a:xfrm>
            <a:off x="5486400" y="1645920"/>
            <a:ext cx="62179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Chart 9"/>
          <p:cNvGraphicFramePr>
            <a:graphicFrameLocks noGrp="1"/>
          </p:cNvGraphicFramePr>
          <p:nvPr/>
        </p:nvGraphicFramePr>
        <p:xfrm>
          <a:off x="5623560" y="1783080"/>
          <a:ext cx="5943600" cy="3566160"/>
        </p:xfrm>
        <a:graphic>
          <a:graphicData uri="http://schemas.openxmlformats.org/drawingml/2006/chart">
            <c:chart xmlns:c="http://schemas.openxmlformats.org/drawingml/2006/chart" r:id="rId4"/>
          </a:graphicData>
        </a:graphic>
      </p:graphicFrame>
      <p:sp>
        <p:nvSpPr>
          <p:cNvPr id="11" name="TextBox 10"/>
          <p:cNvSpPr txBox="1"/>
          <p:nvPr/>
        </p:nvSpPr>
        <p:spPr>
          <a:xfrm>
            <a:off x="5577840" y="5440680"/>
            <a:ext cx="6126480" cy="822960"/>
          </a:xfrm>
          <a:prstGeom prst="rect">
            <a:avLst/>
          </a:prstGeom>
          <a:noFill/>
        </p:spPr>
        <p:txBody>
          <a:bodyPr wrap="square">
            <a:spAutoFit/>
          </a:bodyPr>
          <a:lstStyle/>
          <a:p>
            <a:r>
              <a:rPr sz="1100">
                <a:solidFill>
                  <a:srgbClr val="6B6690"/>
                </a:solidFill>
                <a:latin typeface="Arial"/>
              </a:rPr>
              <a:t>Provisional plan gap by city (test lines, H1 2026). City key coverage: 30/36 city/month keys match using exact labels; a city-alias sensitivity gives 36/36, pending owner approval — not officially approved.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5 · THE CAVEAT AND THE ALTERNATIVE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5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i="0">
                <a:solidFill>
                  <a:srgbClr val="1A1440"/>
                </a:solidFill>
                <a:latin typeface="Georgia"/>
              </a:rPr>
              <a:t>What would change the claim; the approach we did not use</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1" i="0">
                <a:solidFill>
                  <a:srgbClr val="1A1440"/>
                </a:solidFill>
                <a:latin typeface="Arial"/>
              </a:rPr>
              <a:t>The one thing that would change this claim:</a:t>
            </a:r>
          </a:p>
          <a:p>
            <a:r>
              <a:rPr sz="1600" b="0" i="0">
                <a:solidFill>
                  <a:srgbClr val="1A1440"/>
                </a:solidFill>
                <a:latin typeface="Arial"/>
              </a:rPr>
              <a:t>The official KPI definition remains unconfirmed — and Notebook 06 labels its headline “collected or no-show,” but its code does not filter collection status.</a:t>
            </a:r>
          </a:p>
          <a:p>
            <a:r>
              <a:rPr sz="1600" b="0" i="0">
                <a:solidFill>
                  <a:srgbClr val="1A1440"/>
                </a:solidFill>
                <a:latin typeface="Arial"/>
              </a:rPr>
              <a:t>The formal Bangalore/Bengaluru plan crosswalk remains unconfirmed; prior-result-link rates were not recalculated on this denominator.</a:t>
            </a:r>
          </a:p>
          <a:p>
            <a:r>
              <a:rPr sz="1600" b="0" i="0">
                <a:solidFill>
                  <a:srgbClr val="1A1440"/>
                </a:solidFill>
                <a:latin typeface="Arial"/>
              </a:rPr>
              <a:t>These are booking test lines, not tests actually performed — and the driver decomposition is descriptive accounting, not proof of which intervention will recover the plan gap.</a:t>
            </a:r>
          </a:p>
          <a:p>
            <a:r>
              <a:rPr sz="1600" b="1" i="0">
                <a:solidFill>
                  <a:srgbClr val="1A1440"/>
                </a:solidFill>
                <a:latin typeface="Arial"/>
              </a:rPr>
              <a:t>The approach we did not use:</a:t>
            </a:r>
          </a:p>
          <a:p>
            <a:r>
              <a:rPr sz="1600" b="0" i="0">
                <a:solidFill>
                  <a:srgbClr val="1A1440"/>
                </a:solidFill>
                <a:latin typeface="Arial"/>
              </a:rPr>
              <a:t>The city-alias sensitivity (36/36 keys) as the official match — because it is pending owner approval and the alias match is not approved, it is shown only as a sensitivity, not as the basis of the city plan-gap chart.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6 · THE ACTION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i="0">
                <a:solidFill>
                  <a:srgbClr val="1A1440"/>
                </a:solidFill>
                <a:latin typeface="Georgia"/>
              </a:rPr>
              <a:t>Confirm the rule first; only then rerun and decide</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500" b="0" i="0">
                <a:solidFill>
                  <a:srgbClr val="1A1440"/>
                </a:solidFill>
                <a:latin typeface="Arial"/>
              </a:rPr>
              <a:t>Do: KPI owner and Data/BI confirm and sign off the test-volume unit, event date, denominator, validation rules and reschedule rules, plus the monthly dashboard-to-row bridge; Finance/city-reference owner confirms the Bangalore/Bengaluru crosswalk.</a:t>
            </a:r>
          </a:p>
          <a:p>
            <a:r>
              <a:rPr sz="1500" b="1" i="0">
                <a:solidFill>
                  <a:srgbClr val="1A1440"/>
                </a:solidFill>
                <a:latin typeface="Arial"/>
              </a:rPr>
              <a:t>Hold: do not change city targets, staffing, or reagent plans before sign-off.</a:t>
            </a:r>
          </a:p>
          <a:p>
            <a:r>
              <a:rPr sz="1500" b="0" i="0">
                <a:solidFill>
                  <a:srgbClr val="1A1440"/>
                </a:solidFill>
                <a:latin typeface="Arial"/>
              </a:rPr>
              <a:t>Owners: COO/KPI owner, Data/BI and Finance; city heads review the largest provisional plan gaps.</a:t>
            </a:r>
          </a:p>
          <a:p>
            <a:r>
              <a:rPr sz="1500" b="0" i="0">
                <a:solidFill>
                  <a:srgbClr val="1A1440"/>
                </a:solidFill>
                <a:latin typeface="Arial"/>
              </a:rPr>
              <a:t>It costs: one analyst day plus a one-hour owner review.</a:t>
            </a:r>
          </a:p>
          <a:p>
            <a:r>
              <a:rPr sz="1500" b="0" i="0">
                <a:solidFill>
                  <a:srgbClr val="1A1440"/>
                </a:solidFill>
                <a:latin typeface="Arial"/>
              </a:rPr>
              <a:t>Decision gate: rerun using the signed rule, then confirm any city action with city heads.</a:t>
            </a:r>
          </a:p>
          <a:p>
            <a:r>
              <a:rPr sz="1500" b="0" i="0">
                <a:solidFill>
                  <a:srgbClr val="1A1440"/>
                </a:solidFill>
                <a:latin typeface="Arial"/>
              </a:rPr>
              <a:t>What we would do with two more days: reconcile the dashboard-to-row bridge and re-run the alias sensitivity on the signed rule, before any city conversation.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0972800" cy="1097280"/>
          </a:xfrm>
          <a:prstGeom prst="rect">
            <a:avLst/>
          </a:prstGeom>
          <a:noFill/>
        </p:spPr>
        <p:txBody>
          <a:bodyPr wrap="square">
            <a:spAutoFit/>
          </a:bodyPr>
          <a:lstStyle/>
          <a:p>
            <a:pPr algn="l"/>
            <a:r>
              <a:rPr sz="4000" b="1">
                <a:solidFill>
                  <a:srgbClr val="FFFFFF"/>
                </a:solidFill>
                <a:latin typeface="Georgia"/>
              </a:rPr>
              <a:t>Questions</a:t>
            </a:r>
          </a:p>
        </p:txBody>
      </p:sp>
      <p:sp>
        <p:nvSpPr>
          <p:cNvPr id="4" name="TextBox 3"/>
          <p:cNvSpPr txBox="1"/>
          <p:nvPr/>
        </p:nvSpPr>
        <p:spPr>
          <a:xfrm>
            <a:off x="548640" y="3657600"/>
            <a:ext cx="10058400" cy="914400"/>
          </a:xfrm>
          <a:prstGeom prst="rect">
            <a:avLst/>
          </a:prstGeom>
          <a:noFill/>
        </p:spPr>
        <p:txBody>
          <a:bodyPr wrap="square">
            <a:spAutoFit/>
          </a:bodyPr>
          <a:lstStyle/>
          <a:p>
            <a:pPr algn="l"/>
            <a:r>
              <a:rPr sz="1600" b="0">
                <a:solidFill>
                  <a:srgbClr val="DCD6F7"/>
                </a:solidFill>
                <a:latin typeface="Arial"/>
              </a:rPr>
              <a:t>The approach log, the decisions log and the challenges log are open in the repository: &lt;URL&gt;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A</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7 / 8</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A · The decisions that moved the headline</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Rule 1: &lt;what, why, rows, effect on headline&gt;</a:t>
            </a:r>
          </a:p>
          <a:p>
            <a:pPr algn="l"/>
            <a:r>
              <a:rPr sz="1600" b="0">
                <a:solidFill>
                  <a:srgbClr val="1A1440"/>
                </a:solidFill>
                <a:latin typeface="Arial"/>
              </a:rPr>
              <a:t>Rule 2: &lt;...&gt;</a:t>
            </a:r>
          </a:p>
          <a:p>
            <a:pPr algn="l"/>
            <a:r>
              <a:rPr sz="1600" b="0">
                <a:solidFill>
                  <a:srgbClr val="1A1440"/>
                </a:solidFill>
                <a:latin typeface="Arial"/>
              </a:rPr>
              <a:t>Rule 3: &lt;...&gt;</a:t>
            </a:r>
          </a:p>
          <a:p>
            <a:pPr algn="l"/>
            <a:endParaRPr sz="1600" b="0">
              <a:solidFill>
                <a:srgbClr val="1A1440"/>
              </a:solidFill>
              <a:latin typeface="Arial"/>
            </a:endParaRPr>
          </a:p>
          <a:p>
            <a:pPr algn="l"/>
            <a:r>
              <a:rPr sz="1600" b="0">
                <a:solidFill>
                  <a:srgbClr val="1A1440"/>
                </a:solidFill>
                <a:latin typeface="Arial"/>
              </a:rPr>
              <a:t>Every other rule is in docs/decisions-log.md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B</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8 / 8</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B · The cold run</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Fresh Codespace, &lt;date&gt;, run by &lt;member who did not write the notebooks&gt;</a:t>
            </a:r>
          </a:p>
          <a:p>
            <a:pPr algn="l"/>
            <a:r>
              <a:rPr sz="1600" b="0">
                <a:solidFill>
                  <a:srgbClr val="1A1440"/>
                </a:solidFill>
                <a:latin typeface="Arial"/>
              </a:rPr>
              <a:t>Runtime: &lt;m:ss&gt;</a:t>
            </a:r>
          </a:p>
          <a:p>
            <a:pPr algn="l"/>
            <a:r>
              <a:rPr sz="1600" b="0">
                <a:solidFill>
                  <a:srgbClr val="1A1440"/>
                </a:solidFill>
                <a:latin typeface="Arial"/>
              </a:rPr>
              <a:t>Headline: &lt;number&gt;, identical to slide 3</a:t>
            </a:r>
          </a:p>
          <a:p>
            <a:pPr algn="l"/>
            <a:r>
              <a:rPr sz="1600" b="0">
                <a:solidFill>
                  <a:srgbClr val="1A1440"/>
                </a:solidFill>
                <a:latin typeface="Arial"/>
              </a:rPr>
              <a:t>Commit: &lt;short SHA&gt;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983</Words>
  <Application>Microsoft Office PowerPoint</Application>
  <PresentationFormat>Widescreen</PresentationFormat>
  <Paragraphs>85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harsh</dc:creator>
  <cp:keywords/>
  <dc:description>generated using python-pptx</dc:description>
  <cp:lastModifiedBy>harshvardhan raj</cp:lastModifiedBy>
  <cp:revision>1</cp:revision>
  <dcterms:created xsi:type="dcterms:W3CDTF">2013-01-27T09:14:16Z</dcterms:created>
  <dcterms:modified xsi:type="dcterms:W3CDTF">2026-10-22T10:35:13Z</dcterms:modified>
  <cp:category/>
</cp:coreProperties>
</file>