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7" r:id="rId2"/>
    <p:sldId id="258" r:id="rId3"/>
    <p:sldId id="259" r:id="rId4"/>
    <p:sldId id="260"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0" d="100"/>
          <a:sy n="70" d="100"/>
        </p:scale>
        <p:origin x="51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200" b="1" dirty="0">
                <a:solidFill>
                  <a:srgbClr val="1A1440"/>
                </a:solidFill>
                <a:latin typeface="Arial"/>
              </a:rPr>
              <a:t>Candidate city shortfall — alias-sensitive, unverified, pending owner approval</a:t>
            </a:r>
          </a:p>
        </c:rich>
      </c:tx>
      <c:overlay val="0"/>
    </c:title>
    <c:autoTitleDeleted val="0"/>
    <c:plotArea>
      <c:layout/>
      <c:barChart>
        <c:barDir val="bar"/>
        <c:grouping val="clustered"/>
        <c:varyColors val="1"/>
        <c:ser>
          <c:idx val="0"/>
          <c:order val="0"/>
          <c:tx>
            <c:strRef>
              <c:f>Sheet1!$B$1</c:f>
              <c:strCache>
                <c:ptCount val="1"/>
                <c:pt idx="0">
                  <c:v>Plan gap (test lines)</c:v>
                </c:pt>
              </c:strCache>
            </c:strRef>
          </c:tx>
          <c:spPr>
            <a:solidFill>
              <a:srgbClr val="4E38AB"/>
            </a:solidFill>
          </c:spPr>
          <c:invertIfNegative val="1"/>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Sheet1!$A$2:$A$7</c:f>
              <c:strCache>
                <c:ptCount val="6"/>
                <c:pt idx="0">
                  <c:v>Ahmedabad</c:v>
                </c:pt>
                <c:pt idx="1">
                  <c:v>Pune</c:v>
                </c:pt>
                <c:pt idx="2">
                  <c:v>Hyderabad</c:v>
                </c:pt>
                <c:pt idx="3">
                  <c:v>Jaipur</c:v>
                </c:pt>
                <c:pt idx="4">
                  <c:v>Bengaluru</c:v>
                </c:pt>
                <c:pt idx="5">
                  <c:v>Chennai</c:v>
                </c:pt>
              </c:strCache>
            </c:strRef>
          </c:cat>
          <c:val>
            <c:numRef>
              <c:f>Sheet1!$B$2:$B$7</c:f>
              <c:numCache>
                <c:formatCode>General</c:formatCode>
                <c:ptCount val="6"/>
                <c:pt idx="0">
                  <c:v>6250</c:v>
                </c:pt>
                <c:pt idx="1">
                  <c:v>7036</c:v>
                </c:pt>
                <c:pt idx="2">
                  <c:v>8290</c:v>
                </c:pt>
                <c:pt idx="3">
                  <c:v>12259</c:v>
                </c:pt>
                <c:pt idx="4">
                  <c:v>13112</c:v>
                </c:pt>
                <c:pt idx="5">
                  <c:v>13410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711-4E0B-99A6-2912078162B6}"/>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l"/>
        <c:numFmt formatCode="General" sourceLinked="0"/>
        <c:majorTickMark val="none"/>
        <c:minorTickMark val="none"/>
        <c:tickLblPos val="nextTo"/>
        <c:spPr>
          <a:ln>
            <a:solidFill>
              <a:srgbClr val="C9C3E4"/>
            </a:solidFill>
          </a:ln>
        </c:spPr>
        <c:txPr>
          <a:bodyPr/>
          <a:lstStyle/>
          <a:p>
            <a:pPr>
              <a:defRPr sz="1050">
                <a:solidFill>
                  <a:srgbClr val="1A1440"/>
                </a:solidFill>
                <a:latin typeface="Arial"/>
              </a:defRPr>
            </a:pPr>
            <a:endParaRPr lang="en-US"/>
          </a:p>
        </c:txPr>
        <c:crossAx val="-2113994440"/>
        <c:crosses val="autoZero"/>
        <c:auto val="1"/>
        <c:lblAlgn val="ctr"/>
        <c:lblOffset val="100"/>
        <c:noMultiLvlLbl val="0"/>
      </c:catAx>
      <c:valAx>
        <c:axId val="-2113994440"/>
        <c:scaling>
          <c:orientation val="minMax"/>
          <c:max val="14000"/>
          <c:min val="0"/>
        </c:scaling>
        <c:delete val="0"/>
        <c:axPos val="b"/>
        <c:majorGridlines>
          <c:spPr>
            <a:ln w="9525">
              <a:solidFill>
                <a:srgbClr val="E6E2F2"/>
              </a:solidFill>
            </a:ln>
          </c:spPr>
        </c:majorGridlines>
        <c:title>
          <c:tx>
            <c:rich>
              <a:bodyPr/>
              <a:lstStyle/>
              <a:p>
                <a:r>
                  <a:rPr lang="en-US" sz="1200" b="1" dirty="0">
                    <a:solidFill>
                      <a:srgbClr val="1A1440"/>
                    </a:solidFill>
                    <a:latin typeface="Arial"/>
                  </a:rPr>
                  <a:t>Shortfall magnitude (test lines below plan)</a:t>
                </a:r>
              </a:p>
            </c:rich>
          </c:tx>
          <c:overlay val="0"/>
        </c:title>
        <c:numFmt formatCode="#,##0" sourceLinked="0"/>
        <c:majorTickMark val="out"/>
        <c:minorTickMark val="none"/>
        <c:tickLblPos val="nextTo"/>
        <c:txPr>
          <a:bodyPr/>
          <a:lstStyle/>
          <a:p>
            <a:pPr>
              <a:defRPr sz="1000" b="0">
                <a:solidFill>
                  <a:srgbClr val="5A5673"/>
                </a:solidFill>
                <a:latin typeface="Arial"/>
              </a:defRPr>
            </a:pPr>
            <a:endParaRPr lang="en-US"/>
          </a:p>
        </c:txPr>
        <c:crossAx val="-2068027336"/>
        <c:crosses val="autoZero"/>
        <c:crossBetween val="between"/>
        <c:majorUnit val="2000"/>
      </c:valAx>
    </c:plotArea>
    <c:plotVisOnly val="1"/>
    <c:dispBlanksAs val="gap"/>
    <c:showDLblsOverMax val="1"/>
  </c:chart>
  <c:spPr>
    <a:solidFill>
      <a:srgbClr val="FFFFFF"/>
    </a:solidFill>
    <a:ln w="9525">
      <a:solidFill>
        <a:srgbClr val="D9D4EE"/>
      </a:solidFill>
    </a:ln>
  </c:spPr>
  <c:txPr>
    <a:bodyPr/>
    <a:lstStyle/>
    <a:p>
      <a:pPr>
        <a:defRPr sz="10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64210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minute. Her words first, then the translation in one line, then the decision. If the panel does not know what decision hangs on your answer by the end of this slide, nothing after it matters.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Ninety seconds. Point at two numbers on the picture, the two that carry the claim. Do not read the diagram aloud.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sentence. Stop. Count to two. The silence is the point; the slide has one sentence on it so the room reads it twice.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minutes. Each number with its metric definition, said aloud, then the two bases — 433,611 for growth, 515,740 for attainment. Point at the chart's caption where the basis is written. This is the slide the finance controller checks against the decisions log.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Ninety seconds. One caveat, chosen, with its size. One rejected alternative from the approach log. This slide is where the panel decides whether you thought or just computed.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minute. End on the cost of being wrong. No thanks, no summary, no inspirational closing line. Then say 'questions' and stop talking.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276999"/>
          </a:xfrm>
          <a:prstGeom prst="rect">
            <a:avLst/>
          </a:prstGeom>
          <a:noFill/>
        </p:spPr>
        <p:txBody>
          <a:bodyPr wrap="square">
            <a:spAutoFit/>
          </a:bodyPr>
          <a:lstStyle/>
          <a:p>
            <a:pPr algn="l"/>
            <a:r>
              <a:rPr sz="1200" b="1" dirty="0">
                <a:solidFill>
                  <a:srgbClr val="4E38AB"/>
                </a:solidFill>
                <a:latin typeface="Arial"/>
              </a:rPr>
              <a:t>1 · THE QUESTION</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1 / 6</a:t>
            </a:r>
          </a:p>
        </p:txBody>
      </p:sp>
      <p:sp>
        <p:nvSpPr>
          <p:cNvPr id="7" name="TextBox 6"/>
          <p:cNvSpPr txBox="1"/>
          <p:nvPr/>
        </p:nvSpPr>
        <p:spPr>
          <a:xfrm>
            <a:off x="457200" y="640080"/>
            <a:ext cx="11247120" cy="492443"/>
          </a:xfrm>
          <a:prstGeom prst="rect">
            <a:avLst/>
          </a:prstGeom>
          <a:noFill/>
        </p:spPr>
        <p:txBody>
          <a:bodyPr wrap="square">
            <a:spAutoFit/>
          </a:bodyPr>
          <a:lstStyle/>
          <a:p>
            <a:pPr algn="l"/>
            <a:r>
              <a:rPr sz="2600" b="1" dirty="0">
                <a:solidFill>
                  <a:srgbClr val="1A1440"/>
                </a:solidFill>
                <a:latin typeface="Arial"/>
              </a:rPr>
              <a:t>Her question — and the decision it drives</a:t>
            </a:r>
          </a:p>
        </p:txBody>
      </p:sp>
      <p:sp>
        <p:nvSpPr>
          <p:cNvPr id="8" name="TextBox 7"/>
          <p:cNvSpPr txBox="1"/>
          <p:nvPr/>
        </p:nvSpPr>
        <p:spPr>
          <a:xfrm>
            <a:off x="457200" y="6330000"/>
            <a:ext cx="7000000" cy="300000"/>
          </a:xfrm>
          <a:prstGeom prst="rect">
            <a:avLst/>
          </a:prstGeom>
          <a:noFill/>
        </p:spPr>
        <p:txBody>
          <a:bodyPr wrap="square" lIns="0" tIns="0" rIns="0" bIns="0" anchor="t">
            <a:spAutoFit/>
          </a:bodyPr>
          <a:lstStyle/>
          <a:p>
            <a:pPr algn="l"/>
            <a:r>
              <a:rPr sz="950" b="0" i="0">
                <a:solidFill>
                  <a:srgbClr val="5A5673"/>
                </a:solidFill>
                <a:latin typeface="Arial"/>
              </a:rPr>
              <a:t>Kalpa Health  ·  Brief A — Growth</a:t>
            </a:r>
          </a:p>
        </p:txBody>
      </p:sp>
      <p:sp>
        <p:nvSpPr>
          <p:cNvPr id="9" name="TextBox 8"/>
          <p:cNvSpPr txBox="1"/>
          <p:nvPr/>
        </p:nvSpPr>
        <p:spPr>
          <a:xfrm>
            <a:off x="502920" y="1460000"/>
            <a:ext cx="5000000" cy="184666"/>
          </a:xfrm>
          <a:prstGeom prst="rect">
            <a:avLst/>
          </a:prstGeom>
          <a:noFill/>
        </p:spPr>
        <p:txBody>
          <a:bodyPr wrap="square" lIns="0" tIns="0" rIns="0" bIns="0" anchor="t">
            <a:spAutoFit/>
          </a:bodyPr>
          <a:lstStyle/>
          <a:p>
            <a:pPr algn="l"/>
            <a:r>
              <a:rPr sz="1200" b="1" i="0" dirty="0">
                <a:solidFill>
                  <a:srgbClr val="4E38AB"/>
                </a:solidFill>
                <a:latin typeface="Arial"/>
              </a:rPr>
              <a:t>THE QUESTION, VERBATIM</a:t>
            </a:r>
          </a:p>
        </p:txBody>
      </p:sp>
      <p:sp>
        <p:nvSpPr>
          <p:cNvPr id="10" name="Rounded Rectangle 9"/>
          <p:cNvSpPr/>
          <p:nvPr/>
        </p:nvSpPr>
        <p:spPr>
          <a:xfrm>
            <a:off x="502920" y="1800000"/>
            <a:ext cx="5000000" cy="2250000"/>
          </a:xfrm>
          <a:prstGeom prst="roundRect">
            <a:avLst>
              <a:gd name="adj" fmla="val 4500"/>
            </a:avLst>
          </a:prstGeom>
          <a:solidFill>
            <a:srgbClr val="F3F1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ectangle 10"/>
          <p:cNvSpPr/>
          <p:nvPr/>
        </p:nvSpPr>
        <p:spPr>
          <a:xfrm>
            <a:off x="502920" y="1800000"/>
            <a:ext cx="62000" cy="2250000"/>
          </a:xfrm>
          <a:prstGeom prst="rect">
            <a:avLst/>
          </a:prstGeom>
          <a:solidFill>
            <a:srgbClr val="4E38A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842920" y="1930000"/>
            <a:ext cx="4300000" cy="1900000"/>
          </a:xfrm>
          <a:prstGeom prst="rect">
            <a:avLst/>
          </a:prstGeom>
          <a:noFill/>
        </p:spPr>
        <p:txBody>
          <a:bodyPr wrap="square" lIns="0" tIns="0" rIns="0" bIns="0" anchor="t">
            <a:spAutoFit/>
          </a:bodyPr>
          <a:lstStyle/>
          <a:p>
            <a:pPr algn="l">
              <a:lnSpc>
                <a:spcPct val="115000"/>
              </a:lnSpc>
            </a:pPr>
            <a:r>
              <a:rPr sz="1650" b="1" i="0" dirty="0">
                <a:solidFill>
                  <a:srgbClr val="1A1440"/>
                </a:solidFill>
                <a:latin typeface="Arial"/>
              </a:rPr>
              <a:t>“Show me the part of my business that is short, by how much, and where.”</a:t>
            </a:r>
          </a:p>
          <a:p>
            <a:pPr algn="l">
              <a:lnSpc>
                <a:spcPct val="120000"/>
              </a:lnSpc>
              <a:spcBef>
                <a:spcPts val="800"/>
              </a:spcBef>
            </a:pPr>
            <a:r>
              <a:rPr sz="950" b="0" i="0" dirty="0">
                <a:solidFill>
                  <a:srgbClr val="5A5673"/>
                </a:solidFill>
                <a:latin typeface="Arial"/>
              </a:rPr>
              <a:t>— Brief A: Growth, project handbook.</a:t>
            </a:r>
          </a:p>
        </p:txBody>
      </p:sp>
      <p:sp>
        <p:nvSpPr>
          <p:cNvPr id="13" name="TextBox 12"/>
          <p:cNvSpPr txBox="1"/>
          <p:nvPr/>
        </p:nvSpPr>
        <p:spPr>
          <a:xfrm>
            <a:off x="5850000" y="1460000"/>
            <a:ext cx="5800000" cy="184666"/>
          </a:xfrm>
          <a:prstGeom prst="rect">
            <a:avLst/>
          </a:prstGeom>
          <a:noFill/>
        </p:spPr>
        <p:txBody>
          <a:bodyPr wrap="square" lIns="0" tIns="0" rIns="0" bIns="0" anchor="t">
            <a:spAutoFit/>
          </a:bodyPr>
          <a:lstStyle/>
          <a:p>
            <a:pPr algn="l"/>
            <a:r>
              <a:rPr sz="1200" b="1" i="0" dirty="0">
                <a:solidFill>
                  <a:srgbClr val="4E38AB"/>
                </a:solidFill>
                <a:latin typeface="Arial"/>
              </a:rPr>
              <a:t>TRANSLATION — A DRIVER TREE</a:t>
            </a:r>
          </a:p>
        </p:txBody>
      </p:sp>
      <p:sp>
        <p:nvSpPr>
          <p:cNvPr id="14" name="Rounded Rectangle 13"/>
          <p:cNvSpPr/>
          <p:nvPr/>
        </p:nvSpPr>
        <p:spPr>
          <a:xfrm>
            <a:off x="5850000" y="1800000"/>
            <a:ext cx="5650000" cy="1450000"/>
          </a:xfrm>
          <a:prstGeom prst="roundRect">
            <a:avLst>
              <a:gd name="adj" fmla="val 4500"/>
            </a:avLst>
          </a:prstGeom>
          <a:noFill/>
          <a:ln w="15875">
            <a:solidFill>
              <a:srgbClr val="D9D4E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5850000" y="2227353"/>
            <a:ext cx="5650000" cy="605294"/>
          </a:xfrm>
          <a:prstGeom prst="rect">
            <a:avLst/>
          </a:prstGeom>
          <a:noFill/>
        </p:spPr>
        <p:txBody>
          <a:bodyPr wrap="square" lIns="0" tIns="0" rIns="0" bIns="0" anchor="ctr">
            <a:spAutoFit/>
          </a:bodyPr>
          <a:lstStyle/>
          <a:p>
            <a:pPr algn="ctr"/>
            <a:r>
              <a:rPr sz="2400" b="1" i="0" dirty="0">
                <a:solidFill>
                  <a:srgbClr val="4E38AB"/>
                </a:solidFill>
                <a:latin typeface="Arial"/>
              </a:rPr>
              <a:t>T  =  P  ×  (B/P)  ×  (T/B)</a:t>
            </a:r>
          </a:p>
          <a:p>
            <a:pPr algn="ctr">
              <a:spcBef>
                <a:spcPts val="400"/>
              </a:spcBef>
            </a:pPr>
            <a:r>
              <a:rPr sz="1200" b="0" i="0" dirty="0">
                <a:solidFill>
                  <a:srgbClr val="5A5673"/>
                </a:solidFill>
                <a:latin typeface="Arial"/>
              </a:rPr>
              <a:t>Booking test lines = people × bookings per person × test lines per booking</a:t>
            </a:r>
          </a:p>
        </p:txBody>
      </p:sp>
      <p:sp>
        <p:nvSpPr>
          <p:cNvPr id="16" name="TextBox 15"/>
          <p:cNvSpPr txBox="1"/>
          <p:nvPr/>
        </p:nvSpPr>
        <p:spPr>
          <a:xfrm>
            <a:off x="5850000" y="3480000"/>
            <a:ext cx="5800000" cy="184666"/>
          </a:xfrm>
          <a:prstGeom prst="rect">
            <a:avLst/>
          </a:prstGeom>
          <a:noFill/>
        </p:spPr>
        <p:txBody>
          <a:bodyPr wrap="square" lIns="0" tIns="0" rIns="0" bIns="0" anchor="t">
            <a:spAutoFit/>
          </a:bodyPr>
          <a:lstStyle/>
          <a:p>
            <a:pPr algn="l"/>
            <a:r>
              <a:rPr sz="1200" b="1" i="0" dirty="0">
                <a:solidFill>
                  <a:srgbClr val="4E38AB"/>
                </a:solidFill>
                <a:latin typeface="Arial"/>
              </a:rPr>
              <a:t>THE DECISION IT DRIVES</a:t>
            </a:r>
          </a:p>
        </p:txBody>
      </p:sp>
      <p:sp>
        <p:nvSpPr>
          <p:cNvPr id="17" name="TextBox 16"/>
          <p:cNvSpPr txBox="1"/>
          <p:nvPr/>
        </p:nvSpPr>
        <p:spPr>
          <a:xfrm>
            <a:off x="5850000" y="3820000"/>
            <a:ext cx="5650000" cy="1548373"/>
          </a:xfrm>
          <a:prstGeom prst="rect">
            <a:avLst/>
          </a:prstGeom>
          <a:noFill/>
        </p:spPr>
        <p:txBody>
          <a:bodyPr wrap="square" lIns="0" tIns="0" rIns="0" bIns="0" anchor="t">
            <a:spAutoFit/>
          </a:bodyPr>
          <a:lstStyle/>
          <a:p>
            <a:pPr algn="l">
              <a:lnSpc>
                <a:spcPct val="122000"/>
              </a:lnSpc>
            </a:pPr>
            <a:r>
              <a:rPr sz="1400" b="0" i="0" dirty="0">
                <a:solidFill>
                  <a:srgbClr val="1A1440"/>
                </a:solidFill>
                <a:latin typeface="Arial"/>
              </a:rPr>
              <a:t>Which lever — patients, visit frequency or tests per visit — can realistically carry the 60,357-line gap to the H1 2026 plan, and which interventions are therefore even candidates?</a:t>
            </a:r>
          </a:p>
          <a:p>
            <a:pPr algn="l">
              <a:lnSpc>
                <a:spcPct val="120000"/>
              </a:lnSpc>
              <a:spcBef>
                <a:spcPts val="900"/>
              </a:spcBef>
            </a:pPr>
            <a:r>
              <a:rPr sz="1200" b="0" i="0" dirty="0">
                <a:solidFill>
                  <a:srgbClr val="5A5673"/>
                </a:solidFill>
                <a:latin typeface="Arial"/>
              </a:rPr>
              <a:t>Nothing changes on targets, staffing or reagent plans until the KPI owner, Data/BI and the Finance / city-reference owner sign off the unit, event date, metric definition and the Bangalore/Bengaluru crosswalk.</a:t>
            </a:r>
          </a:p>
        </p:txBody>
      </p:sp>
      <p:sp>
        <p:nvSpPr>
          <p:cNvPr id="18" name="Rounded Rectangle 17"/>
          <p:cNvSpPr/>
          <p:nvPr/>
        </p:nvSpPr>
        <p:spPr>
          <a:xfrm>
            <a:off x="502920" y="5750000"/>
            <a:ext cx="11156160" cy="430000"/>
          </a:xfrm>
          <a:prstGeom prst="roundRect">
            <a:avLst>
              <a:gd name="adj" fmla="val 45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622920" y="5830000"/>
            <a:ext cx="10947600" cy="372794"/>
          </a:xfrm>
          <a:prstGeom prst="rect">
            <a:avLst/>
          </a:prstGeom>
          <a:noFill/>
        </p:spPr>
        <p:txBody>
          <a:bodyPr wrap="square" lIns="0" tIns="0" rIns="0" bIns="0" anchor="t">
            <a:spAutoFit/>
          </a:bodyPr>
          <a:lstStyle/>
          <a:p>
            <a:pPr algn="l">
              <a:lnSpc>
                <a:spcPct val="115000"/>
              </a:lnSpc>
            </a:pPr>
            <a:r>
              <a:rPr sz="1100" b="0" i="0" dirty="0">
                <a:solidFill>
                  <a:srgbClr val="5A5673"/>
                </a:solidFill>
                <a:latin typeface="Arial"/>
              </a:rPr>
              <a:t>Scope: validated bookings only; sum of </a:t>
            </a:r>
            <a:r>
              <a:rPr sz="1100" b="0" i="0" dirty="0" err="1">
                <a:solidFill>
                  <a:srgbClr val="5A5673"/>
                </a:solidFill>
                <a:latin typeface="Arial"/>
              </a:rPr>
              <a:t>n_tests</a:t>
            </a:r>
            <a:r>
              <a:rPr sz="1100" b="0" i="0" dirty="0">
                <a:solidFill>
                  <a:srgbClr val="5A5673"/>
                </a:solidFill>
                <a:latin typeface="Arial"/>
              </a:rPr>
              <a:t>; full local H1 periods based on </a:t>
            </a:r>
            <a:r>
              <a:rPr sz="1100" b="0" i="0" dirty="0" err="1">
                <a:solidFill>
                  <a:srgbClr val="5A5673"/>
                </a:solidFill>
                <a:latin typeface="Arial"/>
              </a:rPr>
              <a:t>slot_at</a:t>
            </a:r>
            <a:r>
              <a:rPr sz="1100" b="0" i="0" dirty="0">
                <a:solidFill>
                  <a:srgbClr val="5A5673"/>
                </a:solidFill>
                <a:latin typeface="Arial"/>
              </a:rPr>
              <a:t>. Two different bases are in play — year-on-year growth is measured against H1 2025 actual (433,611); plan attainment against the H1 2026 plan (515,740).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276999"/>
          </a:xfrm>
          <a:prstGeom prst="rect">
            <a:avLst/>
          </a:prstGeom>
          <a:noFill/>
        </p:spPr>
        <p:txBody>
          <a:bodyPr wrap="square">
            <a:spAutoFit/>
          </a:bodyPr>
          <a:lstStyle/>
          <a:p>
            <a:pPr algn="l"/>
            <a:r>
              <a:rPr sz="1200" b="1" dirty="0">
                <a:solidFill>
                  <a:srgbClr val="4E38AB"/>
                </a:solidFill>
                <a:latin typeface="Arial"/>
              </a:rPr>
              <a:t>2 · THE PICTURE</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2 / 6</a:t>
            </a:r>
          </a:p>
        </p:txBody>
      </p:sp>
      <p:sp>
        <p:nvSpPr>
          <p:cNvPr id="7" name="TextBox 6"/>
          <p:cNvSpPr txBox="1"/>
          <p:nvPr/>
        </p:nvSpPr>
        <p:spPr>
          <a:xfrm>
            <a:off x="457200" y="640080"/>
            <a:ext cx="11247120" cy="492443"/>
          </a:xfrm>
          <a:prstGeom prst="rect">
            <a:avLst/>
          </a:prstGeom>
          <a:noFill/>
        </p:spPr>
        <p:txBody>
          <a:bodyPr wrap="square">
            <a:spAutoFit/>
          </a:bodyPr>
          <a:lstStyle/>
          <a:p>
            <a:pPr algn="l"/>
            <a:r>
              <a:rPr sz="2600" b="1" dirty="0">
                <a:solidFill>
                  <a:srgbClr val="1A1440"/>
                </a:solidFill>
                <a:latin typeface="Arial"/>
              </a:rPr>
              <a:t>The driver tree: T = P × (B/P) × (T/B), H1 2025 → H1 2026</a:t>
            </a:r>
          </a:p>
        </p:txBody>
      </p:sp>
      <p:sp>
        <p:nvSpPr>
          <p:cNvPr id="8" name="TextBox 7"/>
          <p:cNvSpPr txBox="1"/>
          <p:nvPr/>
        </p:nvSpPr>
        <p:spPr>
          <a:xfrm>
            <a:off x="457200" y="6330000"/>
            <a:ext cx="7000000" cy="300000"/>
          </a:xfrm>
          <a:prstGeom prst="rect">
            <a:avLst/>
          </a:prstGeom>
          <a:noFill/>
        </p:spPr>
        <p:txBody>
          <a:bodyPr wrap="square" lIns="0" tIns="0" rIns="0" bIns="0" anchor="t">
            <a:spAutoFit/>
          </a:bodyPr>
          <a:lstStyle/>
          <a:p>
            <a:pPr algn="l"/>
            <a:r>
              <a:rPr sz="950" b="0" i="0">
                <a:solidFill>
                  <a:srgbClr val="5A5673"/>
                </a:solidFill>
                <a:latin typeface="Arial"/>
              </a:rPr>
              <a:t>Kalpa Health  ·  Brief A — Growth</a:t>
            </a:r>
          </a:p>
        </p:txBody>
      </p:sp>
      <p:sp>
        <p:nvSpPr>
          <p:cNvPr id="9" name="Rounded Rectangle 8"/>
          <p:cNvSpPr/>
          <p:nvPr/>
        </p:nvSpPr>
        <p:spPr>
          <a:xfrm>
            <a:off x="457200" y="2150000"/>
            <a:ext cx="3600000" cy="1900000"/>
          </a:xfrm>
          <a:prstGeom prst="roundRect">
            <a:avLst>
              <a:gd name="adj" fmla="val 4500"/>
            </a:avLst>
          </a:prstGeom>
          <a:solidFill>
            <a:srgbClr val="F3F1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717200" y="2320000"/>
            <a:ext cx="3080000" cy="1600000"/>
          </a:xfrm>
          <a:prstGeom prst="rect">
            <a:avLst/>
          </a:prstGeom>
          <a:noFill/>
        </p:spPr>
        <p:txBody>
          <a:bodyPr wrap="square" lIns="0" tIns="0" rIns="0" bIns="0" anchor="t">
            <a:spAutoFit/>
          </a:bodyPr>
          <a:lstStyle/>
          <a:p>
            <a:pPr algn="l"/>
            <a:r>
              <a:rPr sz="2600" b="1" i="0" dirty="0">
                <a:solidFill>
                  <a:srgbClr val="4E38AB"/>
                </a:solidFill>
                <a:latin typeface="Arial"/>
              </a:rPr>
              <a:t>P</a:t>
            </a:r>
          </a:p>
          <a:p>
            <a:pPr algn="l">
              <a:spcBef>
                <a:spcPts val="100"/>
              </a:spcBef>
            </a:pPr>
            <a:r>
              <a:rPr sz="1200" b="1" i="0" dirty="0">
                <a:solidFill>
                  <a:srgbClr val="1A1440"/>
                </a:solidFill>
                <a:latin typeface="Arial"/>
              </a:rPr>
              <a:t>Distinct </a:t>
            </a:r>
            <a:r>
              <a:rPr sz="1200" b="1" i="0" dirty="0" err="1">
                <a:solidFill>
                  <a:srgbClr val="1A1440"/>
                </a:solidFill>
                <a:latin typeface="Arial"/>
              </a:rPr>
              <a:t>person_id</a:t>
            </a:r>
            <a:r>
              <a:rPr sz="1200" b="1" i="0" dirty="0">
                <a:solidFill>
                  <a:srgbClr val="1A1440"/>
                </a:solidFill>
                <a:latin typeface="Arial"/>
              </a:rPr>
              <a:t> values</a:t>
            </a:r>
          </a:p>
          <a:p>
            <a:pPr algn="l">
              <a:spcBef>
                <a:spcPts val="100"/>
              </a:spcBef>
            </a:pPr>
            <a:r>
              <a:rPr sz="1200" b="0" i="1" dirty="0">
                <a:solidFill>
                  <a:srgbClr val="5A5673"/>
                </a:solidFill>
                <a:latin typeface="Arial"/>
              </a:rPr>
              <a:t>patient proxy</a:t>
            </a:r>
          </a:p>
          <a:p>
            <a:pPr algn="l">
              <a:spcBef>
                <a:spcPts val="1000"/>
              </a:spcBef>
            </a:pPr>
            <a:r>
              <a:rPr sz="1200" b="0" i="0" dirty="0">
                <a:solidFill>
                  <a:srgbClr val="1A1440"/>
                </a:solidFill>
                <a:latin typeface="Arial"/>
              </a:rPr>
              <a:t>H1 2025   94,275     →     H1 2026   97,827</a:t>
            </a:r>
          </a:p>
          <a:p>
            <a:pPr algn="l">
              <a:spcBef>
                <a:spcPts val="800"/>
              </a:spcBef>
            </a:pPr>
            <a:r>
              <a:rPr sz="1200" b="1" i="0" dirty="0">
                <a:solidFill>
                  <a:srgbClr val="4E38AB"/>
                </a:solidFill>
                <a:latin typeface="Arial"/>
              </a:rPr>
              <a:t>+3.77%</a:t>
            </a:r>
          </a:p>
          <a:p>
            <a:pPr algn="l">
              <a:spcBef>
                <a:spcPts val="100"/>
              </a:spcBef>
            </a:pPr>
            <a:r>
              <a:rPr sz="1200" b="0" i="0" dirty="0">
                <a:solidFill>
                  <a:srgbClr val="5A5673"/>
                </a:solidFill>
                <a:latin typeface="Arial"/>
              </a:rPr>
              <a:t>+3.70 log points</a:t>
            </a:r>
          </a:p>
        </p:txBody>
      </p:sp>
      <p:sp>
        <p:nvSpPr>
          <p:cNvPr id="11" name="Rounded Rectangle 10"/>
          <p:cNvSpPr/>
          <p:nvPr/>
        </p:nvSpPr>
        <p:spPr>
          <a:xfrm>
            <a:off x="4257200" y="2150000"/>
            <a:ext cx="3600000" cy="1900000"/>
          </a:xfrm>
          <a:prstGeom prst="roundRect">
            <a:avLst>
              <a:gd name="adj" fmla="val 4500"/>
            </a:avLst>
          </a:prstGeom>
          <a:solidFill>
            <a:srgbClr val="F3F1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4517200" y="2320000"/>
            <a:ext cx="3080000" cy="1600000"/>
          </a:xfrm>
          <a:prstGeom prst="rect">
            <a:avLst/>
          </a:prstGeom>
          <a:noFill/>
        </p:spPr>
        <p:txBody>
          <a:bodyPr wrap="square" lIns="0" tIns="0" rIns="0" bIns="0" anchor="t">
            <a:spAutoFit/>
          </a:bodyPr>
          <a:lstStyle/>
          <a:p>
            <a:pPr algn="l"/>
            <a:r>
              <a:rPr sz="2600" b="1" i="0" dirty="0">
                <a:solidFill>
                  <a:srgbClr val="4E38AB"/>
                </a:solidFill>
                <a:latin typeface="Arial"/>
              </a:rPr>
              <a:t>B/P</a:t>
            </a:r>
          </a:p>
          <a:p>
            <a:pPr algn="l">
              <a:spcBef>
                <a:spcPts val="100"/>
              </a:spcBef>
            </a:pPr>
            <a:r>
              <a:rPr sz="1200" b="1" i="0" dirty="0">
                <a:solidFill>
                  <a:srgbClr val="1A1440"/>
                </a:solidFill>
                <a:latin typeface="Arial"/>
              </a:rPr>
              <a:t>Booking records per person</a:t>
            </a:r>
          </a:p>
          <a:p>
            <a:pPr algn="l">
              <a:spcBef>
                <a:spcPts val="100"/>
              </a:spcBef>
            </a:pPr>
            <a:r>
              <a:rPr sz="1200" b="0" i="1" dirty="0">
                <a:solidFill>
                  <a:srgbClr val="5A5673"/>
                </a:solidFill>
                <a:latin typeface="Arial"/>
              </a:rPr>
              <a:t>visit-frequency proxy</a:t>
            </a:r>
          </a:p>
          <a:p>
            <a:pPr algn="l">
              <a:spcBef>
                <a:spcPts val="1000"/>
              </a:spcBef>
            </a:pPr>
            <a:r>
              <a:rPr sz="1200" b="0" i="0" dirty="0">
                <a:solidFill>
                  <a:srgbClr val="1A1440"/>
                </a:solidFill>
                <a:latin typeface="Arial"/>
              </a:rPr>
              <a:t>H1 2025   2.0027     →     H1 2026   1.9833</a:t>
            </a:r>
          </a:p>
          <a:p>
            <a:pPr algn="l">
              <a:spcBef>
                <a:spcPts val="800"/>
              </a:spcBef>
            </a:pPr>
            <a:r>
              <a:rPr sz="1200" b="1" i="0" dirty="0">
                <a:solidFill>
                  <a:srgbClr val="4E38AB"/>
                </a:solidFill>
                <a:latin typeface="Arial"/>
              </a:rPr>
              <a:t>−0.97%</a:t>
            </a:r>
          </a:p>
          <a:p>
            <a:pPr algn="l">
              <a:spcBef>
                <a:spcPts val="100"/>
              </a:spcBef>
            </a:pPr>
            <a:r>
              <a:rPr sz="1200" b="0" i="0" dirty="0">
                <a:solidFill>
                  <a:srgbClr val="5A5673"/>
                </a:solidFill>
                <a:latin typeface="Arial"/>
              </a:rPr>
              <a:t>−0.97 log points</a:t>
            </a:r>
          </a:p>
        </p:txBody>
      </p:sp>
      <p:sp>
        <p:nvSpPr>
          <p:cNvPr id="13" name="Rounded Rectangle 12"/>
          <p:cNvSpPr/>
          <p:nvPr/>
        </p:nvSpPr>
        <p:spPr>
          <a:xfrm>
            <a:off x="8057200" y="2150000"/>
            <a:ext cx="3600000" cy="1900000"/>
          </a:xfrm>
          <a:prstGeom prst="roundRect">
            <a:avLst>
              <a:gd name="adj" fmla="val 4500"/>
            </a:avLst>
          </a:prstGeom>
          <a:solidFill>
            <a:srgbClr val="F3F1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8317200" y="2320000"/>
            <a:ext cx="3080000" cy="1600000"/>
          </a:xfrm>
          <a:prstGeom prst="rect">
            <a:avLst/>
          </a:prstGeom>
          <a:noFill/>
        </p:spPr>
        <p:txBody>
          <a:bodyPr wrap="square" lIns="0" tIns="0" rIns="0" bIns="0" anchor="t">
            <a:spAutoFit/>
          </a:bodyPr>
          <a:lstStyle/>
          <a:p>
            <a:pPr algn="l"/>
            <a:r>
              <a:rPr sz="2600" b="1" i="0" dirty="0">
                <a:solidFill>
                  <a:srgbClr val="4E38AB"/>
                </a:solidFill>
                <a:latin typeface="Arial"/>
              </a:rPr>
              <a:t>T/B</a:t>
            </a:r>
          </a:p>
          <a:p>
            <a:pPr algn="l">
              <a:spcBef>
                <a:spcPts val="100"/>
              </a:spcBef>
            </a:pPr>
            <a:r>
              <a:rPr sz="1200" b="1" i="0" dirty="0">
                <a:solidFill>
                  <a:srgbClr val="1A1440"/>
                </a:solidFill>
                <a:latin typeface="Arial"/>
              </a:rPr>
              <a:t>Test lines per booking record</a:t>
            </a:r>
          </a:p>
          <a:p>
            <a:pPr algn="l">
              <a:spcBef>
                <a:spcPts val="100"/>
              </a:spcBef>
            </a:pPr>
            <a:r>
              <a:rPr sz="1200" b="0" i="1" dirty="0">
                <a:solidFill>
                  <a:srgbClr val="5A5673"/>
                </a:solidFill>
                <a:latin typeface="Arial"/>
              </a:rPr>
              <a:t>tests-per-visit proxy</a:t>
            </a:r>
          </a:p>
          <a:p>
            <a:pPr algn="l">
              <a:spcBef>
                <a:spcPts val="1000"/>
              </a:spcBef>
            </a:pPr>
            <a:r>
              <a:rPr sz="1200" b="0" i="0" dirty="0">
                <a:solidFill>
                  <a:srgbClr val="1A1440"/>
                </a:solidFill>
                <a:latin typeface="Arial"/>
              </a:rPr>
              <a:t>H1 2025   2.2966     →     H1 2026   2.3471</a:t>
            </a:r>
          </a:p>
          <a:p>
            <a:pPr algn="l">
              <a:spcBef>
                <a:spcPts val="800"/>
              </a:spcBef>
            </a:pPr>
            <a:r>
              <a:rPr sz="1200" b="1" i="0" dirty="0">
                <a:solidFill>
                  <a:srgbClr val="4E38AB"/>
                </a:solidFill>
                <a:latin typeface="Arial"/>
              </a:rPr>
              <a:t>+2.20%</a:t>
            </a:r>
          </a:p>
          <a:p>
            <a:pPr algn="l">
              <a:spcBef>
                <a:spcPts val="100"/>
              </a:spcBef>
            </a:pPr>
            <a:r>
              <a:rPr sz="1200" b="0" i="0" dirty="0">
                <a:solidFill>
                  <a:srgbClr val="5A5673"/>
                </a:solidFill>
                <a:latin typeface="Arial"/>
              </a:rPr>
              <a:t>+2.17 log points</a:t>
            </a:r>
          </a:p>
        </p:txBody>
      </p:sp>
      <p:sp>
        <p:nvSpPr>
          <p:cNvPr id="15" name="Rectangle 14"/>
          <p:cNvSpPr/>
          <p:nvPr/>
        </p:nvSpPr>
        <p:spPr>
          <a:xfrm>
            <a:off x="2245200" y="4050000"/>
            <a:ext cx="24000" cy="230000"/>
          </a:xfrm>
          <a:prstGeom prst="rect">
            <a:avLst/>
          </a:prstGeom>
          <a:solidFill>
            <a:srgbClr val="D9D4E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ectangle 15"/>
          <p:cNvSpPr/>
          <p:nvPr/>
        </p:nvSpPr>
        <p:spPr>
          <a:xfrm>
            <a:off x="6045200" y="4050000"/>
            <a:ext cx="24000" cy="230000"/>
          </a:xfrm>
          <a:prstGeom prst="rect">
            <a:avLst/>
          </a:prstGeom>
          <a:solidFill>
            <a:srgbClr val="D9D4E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Rectangle 16"/>
          <p:cNvSpPr/>
          <p:nvPr/>
        </p:nvSpPr>
        <p:spPr>
          <a:xfrm>
            <a:off x="9845200" y="4050000"/>
            <a:ext cx="24000" cy="230000"/>
          </a:xfrm>
          <a:prstGeom prst="rect">
            <a:avLst/>
          </a:prstGeom>
          <a:solidFill>
            <a:srgbClr val="D9D4E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Rectangle 17"/>
          <p:cNvSpPr/>
          <p:nvPr/>
        </p:nvSpPr>
        <p:spPr>
          <a:xfrm>
            <a:off x="2257200" y="4268000"/>
            <a:ext cx="7600000" cy="24000"/>
          </a:xfrm>
          <a:prstGeom prst="rect">
            <a:avLst/>
          </a:prstGeom>
          <a:solidFill>
            <a:srgbClr val="D9D4E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Rectangle 18"/>
          <p:cNvSpPr/>
          <p:nvPr/>
        </p:nvSpPr>
        <p:spPr>
          <a:xfrm>
            <a:off x="6045200" y="4268000"/>
            <a:ext cx="24000" cy="170000"/>
          </a:xfrm>
          <a:prstGeom prst="rect">
            <a:avLst/>
          </a:prstGeom>
          <a:solidFill>
            <a:srgbClr val="D9D4E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ounded Rectangle 19"/>
          <p:cNvSpPr/>
          <p:nvPr/>
        </p:nvSpPr>
        <p:spPr>
          <a:xfrm>
            <a:off x="457200" y="4380000"/>
            <a:ext cx="11247600" cy="760000"/>
          </a:xfrm>
          <a:prstGeom prst="roundRect">
            <a:avLst>
              <a:gd name="adj" fmla="val 4500"/>
            </a:avLst>
          </a:prstGeom>
          <a:solidFill>
            <a:srgbClr val="4E38A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777200" y="4636889"/>
            <a:ext cx="10607600" cy="246221"/>
          </a:xfrm>
          <a:prstGeom prst="rect">
            <a:avLst/>
          </a:prstGeom>
          <a:noFill/>
        </p:spPr>
        <p:txBody>
          <a:bodyPr wrap="square" lIns="0" tIns="0" rIns="0" bIns="0" anchor="ctr">
            <a:spAutoFit/>
          </a:bodyPr>
          <a:lstStyle/>
          <a:p>
            <a:pPr algn="ctr"/>
            <a:r>
              <a:rPr sz="1600" b="1" i="0" dirty="0">
                <a:solidFill>
                  <a:srgbClr val="FFFFFF"/>
                </a:solidFill>
                <a:latin typeface="Arial"/>
              </a:rPr>
              <a:t>T  ·  Test lines (sum of </a:t>
            </a:r>
            <a:r>
              <a:rPr sz="1600" b="1" i="0" dirty="0" err="1">
                <a:solidFill>
                  <a:srgbClr val="FFFFFF"/>
                </a:solidFill>
                <a:latin typeface="Arial"/>
              </a:rPr>
              <a:t>n_tests</a:t>
            </a:r>
            <a:r>
              <a:rPr sz="1600" b="1" i="0" dirty="0">
                <a:solidFill>
                  <a:srgbClr val="FFFFFF"/>
                </a:solidFill>
                <a:latin typeface="Arial"/>
              </a:rPr>
              <a:t>):   433,611  →  455,383     ·     +21,772 lines     ·     +5.02% year on year</a:t>
            </a:r>
          </a:p>
        </p:txBody>
      </p:sp>
      <p:sp>
        <p:nvSpPr>
          <p:cNvPr id="22" name="TextBox 21"/>
          <p:cNvSpPr txBox="1"/>
          <p:nvPr/>
        </p:nvSpPr>
        <p:spPr>
          <a:xfrm>
            <a:off x="457200" y="5280000"/>
            <a:ext cx="11247600" cy="903452"/>
          </a:xfrm>
          <a:prstGeom prst="rect">
            <a:avLst/>
          </a:prstGeom>
          <a:noFill/>
        </p:spPr>
        <p:txBody>
          <a:bodyPr wrap="square" lIns="0" tIns="0" rIns="0" bIns="0" anchor="t">
            <a:spAutoFit/>
          </a:bodyPr>
          <a:lstStyle/>
          <a:p>
            <a:pPr algn="l">
              <a:lnSpc>
                <a:spcPct val="118000"/>
              </a:lnSpc>
            </a:pPr>
            <a:r>
              <a:rPr sz="1200" b="0" i="0" dirty="0">
                <a:solidFill>
                  <a:srgbClr val="5A5673"/>
                </a:solidFill>
                <a:latin typeface="Arial"/>
              </a:rPr>
              <a:t>Descriptive accounting, not a causal decomposition. The three factors are proxies: P is a patient proxy (</a:t>
            </a:r>
            <a:r>
              <a:rPr sz="1200" b="0" i="0" dirty="0" err="1">
                <a:solidFill>
                  <a:srgbClr val="5A5673"/>
                </a:solidFill>
                <a:latin typeface="Arial"/>
              </a:rPr>
              <a:t>person_id</a:t>
            </a:r>
            <a:r>
              <a:rPr sz="1200" b="0" i="0" dirty="0">
                <a:solidFill>
                  <a:srgbClr val="5A5673"/>
                </a:solidFill>
                <a:latin typeface="Arial"/>
              </a:rPr>
              <a:t> built from </a:t>
            </a:r>
            <a:r>
              <a:rPr sz="1200" b="0" i="0" dirty="0" err="1">
                <a:solidFill>
                  <a:srgbClr val="5A5673"/>
                </a:solidFill>
                <a:latin typeface="Arial"/>
              </a:rPr>
              <a:t>normalised</a:t>
            </a:r>
            <a:r>
              <a:rPr sz="1200" b="0" i="0" dirty="0">
                <a:solidFill>
                  <a:srgbClr val="5A5673"/>
                </a:solidFill>
                <a:latin typeface="Arial"/>
              </a:rPr>
              <a:t> phone, name and date of birth); B/P is a visit-frequency proxy (booking records per person); T/B is a tests-per-visit proxy (test lines per booking record). Booking test lines are not proof of performed tests.</a:t>
            </a:r>
          </a:p>
          <a:p>
            <a:pPr algn="l">
              <a:lnSpc>
                <a:spcPct val="118000"/>
              </a:lnSpc>
              <a:spcBef>
                <a:spcPts val="400"/>
              </a:spcBef>
            </a:pPr>
            <a:r>
              <a:rPr sz="1200" b="0" i="0" dirty="0">
                <a:solidFill>
                  <a:srgbClr val="5A5673"/>
                </a:solidFill>
                <a:latin typeface="Arial"/>
              </a:rPr>
              <a:t>Metric definition and period: sum of </a:t>
            </a:r>
            <a:r>
              <a:rPr sz="1200" b="0" i="0" dirty="0" err="1">
                <a:solidFill>
                  <a:srgbClr val="5A5673"/>
                </a:solidFill>
                <a:latin typeface="Arial"/>
              </a:rPr>
              <a:t>n_tests</a:t>
            </a:r>
            <a:r>
              <a:rPr sz="1200" b="0" i="0" dirty="0">
                <a:solidFill>
                  <a:srgbClr val="5A5673"/>
                </a:solidFill>
                <a:latin typeface="Arial"/>
              </a:rPr>
              <a:t> on validated bookings, superseded rescheduled records removed, full local H1 periods based on </a:t>
            </a:r>
            <a:r>
              <a:rPr sz="1200" b="0" i="0" dirty="0" err="1">
                <a:solidFill>
                  <a:srgbClr val="5A5673"/>
                </a:solidFill>
                <a:latin typeface="Arial"/>
              </a:rPr>
              <a:t>slot_at</a:t>
            </a:r>
            <a:r>
              <a:rPr sz="1200" b="0" i="0" dirty="0">
                <a:solidFill>
                  <a:srgbClr val="5A5673"/>
                </a:solidFill>
                <a:latin typeface="Arial"/>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276999"/>
          </a:xfrm>
          <a:prstGeom prst="rect">
            <a:avLst/>
          </a:prstGeom>
          <a:noFill/>
        </p:spPr>
        <p:txBody>
          <a:bodyPr wrap="square">
            <a:spAutoFit/>
          </a:bodyPr>
          <a:lstStyle/>
          <a:p>
            <a:pPr algn="l"/>
            <a:r>
              <a:rPr sz="1200" b="1" dirty="0">
                <a:solidFill>
                  <a:srgbClr val="4E38AB"/>
                </a:solidFill>
                <a:latin typeface="Arial"/>
              </a:rPr>
              <a:t>3 · THE CLAIM</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3 / 6</a:t>
            </a:r>
          </a:p>
        </p:txBody>
      </p:sp>
      <p:sp>
        <p:nvSpPr>
          <p:cNvPr id="7" name="TextBox 6"/>
          <p:cNvSpPr txBox="1"/>
          <p:nvPr/>
        </p:nvSpPr>
        <p:spPr>
          <a:xfrm>
            <a:off x="457200" y="640080"/>
            <a:ext cx="11247120" cy="492443"/>
          </a:xfrm>
          <a:prstGeom prst="rect">
            <a:avLst/>
          </a:prstGeom>
          <a:noFill/>
        </p:spPr>
        <p:txBody>
          <a:bodyPr wrap="square">
            <a:spAutoFit/>
          </a:bodyPr>
          <a:lstStyle/>
          <a:p>
            <a:pPr algn="l"/>
            <a:r>
              <a:rPr sz="2600" b="1" dirty="0">
                <a:solidFill>
                  <a:srgbClr val="1A1440"/>
                </a:solidFill>
                <a:latin typeface="Arial"/>
              </a:rPr>
              <a:t>One sentence Dr Menon can say to her board</a:t>
            </a:r>
          </a:p>
        </p:txBody>
      </p:sp>
      <p:sp>
        <p:nvSpPr>
          <p:cNvPr id="8" name="TextBox 7"/>
          <p:cNvSpPr txBox="1"/>
          <p:nvPr/>
        </p:nvSpPr>
        <p:spPr>
          <a:xfrm>
            <a:off x="457200" y="6330000"/>
            <a:ext cx="7000000" cy="300000"/>
          </a:xfrm>
          <a:prstGeom prst="rect">
            <a:avLst/>
          </a:prstGeom>
          <a:noFill/>
        </p:spPr>
        <p:txBody>
          <a:bodyPr wrap="square" lIns="0" tIns="0" rIns="0" bIns="0" anchor="t">
            <a:spAutoFit/>
          </a:bodyPr>
          <a:lstStyle/>
          <a:p>
            <a:pPr algn="l"/>
            <a:r>
              <a:rPr sz="950" b="0" i="0">
                <a:solidFill>
                  <a:srgbClr val="5A5673"/>
                </a:solidFill>
                <a:latin typeface="Arial"/>
              </a:rPr>
              <a:t>Kalpa Health  ·  Brief A — Growth</a:t>
            </a:r>
          </a:p>
        </p:txBody>
      </p:sp>
      <p:sp>
        <p:nvSpPr>
          <p:cNvPr id="9" name="Rounded Rectangle 8"/>
          <p:cNvSpPr/>
          <p:nvPr/>
        </p:nvSpPr>
        <p:spPr>
          <a:xfrm>
            <a:off x="457200" y="1580000"/>
            <a:ext cx="11247600" cy="1660000"/>
          </a:xfrm>
          <a:prstGeom prst="roundRect">
            <a:avLst>
              <a:gd name="adj" fmla="val 4500"/>
            </a:avLst>
          </a:prstGeom>
          <a:solidFill>
            <a:srgbClr val="F3F1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907200" y="1660000"/>
            <a:ext cx="10347600" cy="1500000"/>
          </a:xfrm>
          <a:prstGeom prst="rect">
            <a:avLst/>
          </a:prstGeom>
          <a:noFill/>
        </p:spPr>
        <p:txBody>
          <a:bodyPr wrap="square" lIns="0" tIns="0" rIns="0" bIns="0" anchor="ctr">
            <a:spAutoFit/>
          </a:bodyPr>
          <a:lstStyle/>
          <a:p>
            <a:pPr algn="ctr">
              <a:lnSpc>
                <a:spcPct val="118000"/>
              </a:lnSpc>
            </a:pPr>
            <a:r>
              <a:rPr sz="2200" b="1" i="0" dirty="0">
                <a:solidFill>
                  <a:srgbClr val="1A1440"/>
                </a:solidFill>
                <a:latin typeface="Arial"/>
              </a:rPr>
              <a:t>Kalpa Health recorded 455,383 booking test lines in H1 2026, up from 433,611 in H1 2025 — growth of +21,772 lines, or +5.02% year on year.</a:t>
            </a:r>
          </a:p>
        </p:txBody>
      </p:sp>
      <p:sp>
        <p:nvSpPr>
          <p:cNvPr id="11" name="Rounded Rectangle 10"/>
          <p:cNvSpPr/>
          <p:nvPr/>
        </p:nvSpPr>
        <p:spPr>
          <a:xfrm>
            <a:off x="457200" y="3400000"/>
            <a:ext cx="3655866" cy="1060000"/>
          </a:xfrm>
          <a:prstGeom prst="roundRect">
            <a:avLst>
              <a:gd name="adj" fmla="val 4500"/>
            </a:avLst>
          </a:prstGeom>
          <a:solidFill>
            <a:srgbClr val="FFFFFF"/>
          </a:solidFill>
          <a:ln w="15875">
            <a:solidFill>
              <a:srgbClr val="D9D4E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677200" y="3578622"/>
            <a:ext cx="3215866" cy="702756"/>
          </a:xfrm>
          <a:prstGeom prst="rect">
            <a:avLst/>
          </a:prstGeom>
          <a:noFill/>
        </p:spPr>
        <p:txBody>
          <a:bodyPr wrap="square" lIns="0" tIns="0" rIns="0" bIns="0" anchor="ctr">
            <a:spAutoFit/>
          </a:bodyPr>
          <a:lstStyle/>
          <a:p>
            <a:pPr algn="l"/>
            <a:r>
              <a:rPr sz="1200" b="1" i="0" dirty="0">
                <a:solidFill>
                  <a:srgbClr val="4E38AB"/>
                </a:solidFill>
                <a:latin typeface="Arial"/>
              </a:rPr>
              <a:t>H1 2025 ACTUAL</a:t>
            </a:r>
          </a:p>
          <a:p>
            <a:pPr algn="l">
              <a:spcBef>
                <a:spcPts val="100"/>
              </a:spcBef>
            </a:pPr>
            <a:r>
              <a:rPr sz="2000" b="1" i="0" dirty="0">
                <a:solidFill>
                  <a:srgbClr val="1A1440"/>
                </a:solidFill>
                <a:latin typeface="Arial"/>
              </a:rPr>
              <a:t>433,611</a:t>
            </a:r>
          </a:p>
          <a:p>
            <a:pPr algn="l">
              <a:spcBef>
                <a:spcPts val="100"/>
              </a:spcBef>
            </a:pPr>
            <a:r>
              <a:rPr sz="1200" b="0" i="0" dirty="0">
                <a:solidFill>
                  <a:srgbClr val="5A5673"/>
                </a:solidFill>
                <a:latin typeface="Arial"/>
              </a:rPr>
              <a:t>baseline for year-on-year growth</a:t>
            </a:r>
          </a:p>
        </p:txBody>
      </p:sp>
      <p:sp>
        <p:nvSpPr>
          <p:cNvPr id="13" name="Rounded Rectangle 12"/>
          <p:cNvSpPr/>
          <p:nvPr/>
        </p:nvSpPr>
        <p:spPr>
          <a:xfrm>
            <a:off x="4253066" y="3400000"/>
            <a:ext cx="3655866" cy="1060000"/>
          </a:xfrm>
          <a:prstGeom prst="roundRect">
            <a:avLst>
              <a:gd name="adj" fmla="val 4500"/>
            </a:avLst>
          </a:prstGeom>
          <a:solidFill>
            <a:srgbClr val="FFFFFF"/>
          </a:solidFill>
          <a:ln w="15875">
            <a:solidFill>
              <a:srgbClr val="D9D4E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4473066" y="3578622"/>
            <a:ext cx="3215866" cy="702756"/>
          </a:xfrm>
          <a:prstGeom prst="rect">
            <a:avLst/>
          </a:prstGeom>
          <a:noFill/>
        </p:spPr>
        <p:txBody>
          <a:bodyPr wrap="square" lIns="0" tIns="0" rIns="0" bIns="0" anchor="ctr">
            <a:spAutoFit/>
          </a:bodyPr>
          <a:lstStyle/>
          <a:p>
            <a:pPr algn="l"/>
            <a:r>
              <a:rPr sz="1200" b="1" i="0" dirty="0">
                <a:solidFill>
                  <a:srgbClr val="4E38AB"/>
                </a:solidFill>
                <a:latin typeface="Arial"/>
              </a:rPr>
              <a:t>H1 2026 ACTUAL</a:t>
            </a:r>
          </a:p>
          <a:p>
            <a:pPr algn="l">
              <a:spcBef>
                <a:spcPts val="100"/>
              </a:spcBef>
            </a:pPr>
            <a:r>
              <a:rPr sz="2000" b="1" i="0" dirty="0">
                <a:solidFill>
                  <a:srgbClr val="1A1440"/>
                </a:solidFill>
                <a:latin typeface="Arial"/>
              </a:rPr>
              <a:t>455,383</a:t>
            </a:r>
          </a:p>
          <a:p>
            <a:pPr algn="l">
              <a:spcBef>
                <a:spcPts val="100"/>
              </a:spcBef>
            </a:pPr>
            <a:r>
              <a:rPr sz="1200" b="0" i="0" dirty="0">
                <a:solidFill>
                  <a:srgbClr val="5A5673"/>
                </a:solidFill>
                <a:latin typeface="Arial"/>
              </a:rPr>
              <a:t>what we actually booked</a:t>
            </a:r>
          </a:p>
        </p:txBody>
      </p:sp>
      <p:sp>
        <p:nvSpPr>
          <p:cNvPr id="15" name="Rounded Rectangle 14"/>
          <p:cNvSpPr/>
          <p:nvPr/>
        </p:nvSpPr>
        <p:spPr>
          <a:xfrm>
            <a:off x="8048932" y="3400000"/>
            <a:ext cx="3655866" cy="1060000"/>
          </a:xfrm>
          <a:prstGeom prst="roundRect">
            <a:avLst>
              <a:gd name="adj" fmla="val 4500"/>
            </a:avLst>
          </a:prstGeom>
          <a:solidFill>
            <a:srgbClr val="FFFFFF"/>
          </a:solidFill>
          <a:ln w="15875">
            <a:solidFill>
              <a:srgbClr val="D9D4E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8268932" y="3578622"/>
            <a:ext cx="3215866" cy="702756"/>
          </a:xfrm>
          <a:prstGeom prst="rect">
            <a:avLst/>
          </a:prstGeom>
          <a:noFill/>
        </p:spPr>
        <p:txBody>
          <a:bodyPr wrap="square" lIns="0" tIns="0" rIns="0" bIns="0" anchor="ctr">
            <a:spAutoFit/>
          </a:bodyPr>
          <a:lstStyle/>
          <a:p>
            <a:pPr algn="l"/>
            <a:r>
              <a:rPr sz="1200" b="1" i="0" dirty="0">
                <a:solidFill>
                  <a:srgbClr val="4E38AB"/>
                </a:solidFill>
                <a:latin typeface="Arial"/>
              </a:rPr>
              <a:t>H1 2026 PLAN</a:t>
            </a:r>
          </a:p>
          <a:p>
            <a:pPr algn="l">
              <a:spcBef>
                <a:spcPts val="100"/>
              </a:spcBef>
            </a:pPr>
            <a:r>
              <a:rPr sz="2000" b="1" i="0" dirty="0">
                <a:solidFill>
                  <a:srgbClr val="1A1440"/>
                </a:solidFill>
                <a:latin typeface="Arial"/>
              </a:rPr>
              <a:t>515,740</a:t>
            </a:r>
          </a:p>
          <a:p>
            <a:pPr algn="l">
              <a:spcBef>
                <a:spcPts val="100"/>
              </a:spcBef>
            </a:pPr>
            <a:r>
              <a:rPr sz="1200" b="0" i="0" dirty="0">
                <a:solidFill>
                  <a:srgbClr val="5A5673"/>
                </a:solidFill>
                <a:latin typeface="Arial"/>
              </a:rPr>
              <a:t>baseline for plan attainment</a:t>
            </a:r>
          </a:p>
        </p:txBody>
      </p:sp>
      <p:sp>
        <p:nvSpPr>
          <p:cNvPr id="17" name="Rounded Rectangle 16"/>
          <p:cNvSpPr/>
          <p:nvPr/>
        </p:nvSpPr>
        <p:spPr>
          <a:xfrm>
            <a:off x="457200" y="4580000"/>
            <a:ext cx="11247600" cy="460000"/>
          </a:xfrm>
          <a:prstGeom prst="roundRect">
            <a:avLst>
              <a:gd name="adj" fmla="val 4500"/>
            </a:avLst>
          </a:prstGeom>
          <a:noFill/>
          <a:ln w="19050">
            <a:solidFill>
              <a:srgbClr val="A62B3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657200" y="4671500"/>
            <a:ext cx="10847600" cy="276999"/>
          </a:xfrm>
          <a:prstGeom prst="rect">
            <a:avLst/>
          </a:prstGeom>
          <a:noFill/>
        </p:spPr>
        <p:txBody>
          <a:bodyPr wrap="square" lIns="0" tIns="0" rIns="0" bIns="0" anchor="ctr">
            <a:spAutoFit/>
          </a:bodyPr>
          <a:lstStyle/>
          <a:p>
            <a:pPr algn="ctr"/>
            <a:r>
              <a:rPr b="1" i="0">
                <a:solidFill>
                  <a:srgbClr val="A62B3E"/>
                </a:solidFill>
                <a:latin typeface="Arial"/>
              </a:rPr>
              <a:t>515,740 − 455,383 = 60,357 lines below plan     ·     88.30% attainment     ·     11.70% short of plan</a:t>
            </a:r>
          </a:p>
        </p:txBody>
      </p:sp>
      <p:sp>
        <p:nvSpPr>
          <p:cNvPr id="19" name="TextBox 18"/>
          <p:cNvSpPr txBox="1"/>
          <p:nvPr/>
        </p:nvSpPr>
        <p:spPr>
          <a:xfrm>
            <a:off x="457200" y="5180000"/>
            <a:ext cx="11247600" cy="1169294"/>
          </a:xfrm>
          <a:prstGeom prst="rect">
            <a:avLst/>
          </a:prstGeom>
          <a:noFill/>
        </p:spPr>
        <p:txBody>
          <a:bodyPr wrap="square" lIns="0" tIns="0" rIns="0" bIns="0" anchor="t">
            <a:spAutoFit/>
          </a:bodyPr>
          <a:lstStyle/>
          <a:p>
            <a:pPr algn="l"/>
            <a:r>
              <a:rPr sz="1400" b="1" i="0" dirty="0">
                <a:solidFill>
                  <a:srgbClr val="4E38AB"/>
                </a:solidFill>
                <a:latin typeface="Arial"/>
              </a:rPr>
              <a:t>Metric definition and period</a:t>
            </a:r>
          </a:p>
          <a:p>
            <a:pPr algn="l">
              <a:lnSpc>
                <a:spcPct val="116000"/>
              </a:lnSpc>
              <a:spcBef>
                <a:spcPts val="300"/>
              </a:spcBef>
            </a:pPr>
            <a:r>
              <a:rPr sz="1200" b="0" i="0" dirty="0">
                <a:solidFill>
                  <a:srgbClr val="1A1440"/>
                </a:solidFill>
                <a:latin typeface="Arial"/>
              </a:rPr>
              <a:t>Sum of </a:t>
            </a:r>
            <a:r>
              <a:rPr sz="1200" b="0" i="0" dirty="0" err="1">
                <a:solidFill>
                  <a:srgbClr val="1A1440"/>
                </a:solidFill>
                <a:latin typeface="Arial"/>
              </a:rPr>
              <a:t>n_tests</a:t>
            </a:r>
            <a:r>
              <a:rPr sz="1200" b="0" i="0" dirty="0">
                <a:solidFill>
                  <a:srgbClr val="1A1440"/>
                </a:solidFill>
                <a:latin typeface="Arial"/>
              </a:rPr>
              <a:t> on validated bookings, superseded rescheduled records removed; full local H1 periods based on </a:t>
            </a:r>
            <a:r>
              <a:rPr sz="1200" b="0" i="0" dirty="0" err="1">
                <a:solidFill>
                  <a:srgbClr val="1A1440"/>
                </a:solidFill>
                <a:latin typeface="Arial"/>
              </a:rPr>
              <a:t>slot_at</a:t>
            </a:r>
            <a:r>
              <a:rPr sz="1200" b="0" i="0" dirty="0">
                <a:solidFill>
                  <a:srgbClr val="1A1440"/>
                </a:solidFill>
                <a:latin typeface="Arial"/>
              </a:rPr>
              <a:t>. These are booking test lines — not tests performed. Every number on this deck uses this same metric definition; it is not a shared denominator, because the two percentages divide by different bases — growth by the H1 2025 baseline of 433,611, attainment by the H1 2026 plan of 515,740.</a:t>
            </a:r>
          </a:p>
          <a:p>
            <a:pPr algn="l">
              <a:lnSpc>
                <a:spcPct val="116000"/>
              </a:lnSpc>
              <a:spcBef>
                <a:spcPts val="600"/>
              </a:spcBef>
            </a:pPr>
            <a:r>
              <a:rPr sz="1200" b="0" i="0" dirty="0">
                <a:solidFill>
                  <a:srgbClr val="5A5673"/>
                </a:solidFill>
                <a:latin typeface="Arial"/>
              </a:rPr>
              <a:t>The plan itself implies +18.94% on H1 2025 actual, which is why +5.02% growth still leaves a 60,357-line gap.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276999"/>
          </a:xfrm>
          <a:prstGeom prst="rect">
            <a:avLst/>
          </a:prstGeom>
          <a:noFill/>
        </p:spPr>
        <p:txBody>
          <a:bodyPr wrap="square">
            <a:spAutoFit/>
          </a:bodyPr>
          <a:lstStyle/>
          <a:p>
            <a:pPr algn="l"/>
            <a:r>
              <a:rPr sz="1200" b="1" dirty="0">
                <a:solidFill>
                  <a:srgbClr val="4E38AB"/>
                </a:solidFill>
                <a:latin typeface="Arial"/>
              </a:rPr>
              <a:t>4 · THE EVIDENCE</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4 / 6</a:t>
            </a:r>
          </a:p>
        </p:txBody>
      </p:sp>
      <p:sp>
        <p:nvSpPr>
          <p:cNvPr id="7" name="TextBox 6"/>
          <p:cNvSpPr txBox="1"/>
          <p:nvPr/>
        </p:nvSpPr>
        <p:spPr>
          <a:xfrm>
            <a:off x="457200" y="640080"/>
            <a:ext cx="11247120" cy="492443"/>
          </a:xfrm>
          <a:prstGeom prst="rect">
            <a:avLst/>
          </a:prstGeom>
          <a:noFill/>
        </p:spPr>
        <p:txBody>
          <a:bodyPr wrap="square">
            <a:spAutoFit/>
          </a:bodyPr>
          <a:lstStyle/>
          <a:p>
            <a:pPr algn="l"/>
            <a:r>
              <a:rPr sz="2600" b="1" dirty="0">
                <a:solidFill>
                  <a:srgbClr val="1A1440"/>
                </a:solidFill>
                <a:latin typeface="Arial"/>
              </a:rPr>
              <a:t>The numbers behind the claim, and the provisional plan gap by city</a:t>
            </a:r>
          </a:p>
        </p:txBody>
      </p:sp>
      <p:graphicFrame>
        <p:nvGraphicFramePr>
          <p:cNvPr id="10" name="Chart 9"/>
          <p:cNvGraphicFramePr>
            <a:graphicFrameLocks noGrp="1"/>
          </p:cNvGraphicFramePr>
          <p:nvPr>
            <p:extLst>
              <p:ext uri="{D42A27DB-BD31-4B8C-83A1-F6EECF244321}">
                <p14:modId xmlns:p14="http://schemas.microsoft.com/office/powerpoint/2010/main" val="1448723134"/>
              </p:ext>
            </p:extLst>
          </p:nvPr>
        </p:nvGraphicFramePr>
        <p:xfrm>
          <a:off x="5180000" y="1498277"/>
          <a:ext cx="6340000" cy="3561723"/>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p:cNvSpPr txBox="1"/>
          <p:nvPr/>
        </p:nvSpPr>
        <p:spPr>
          <a:xfrm>
            <a:off x="457200" y="6277488"/>
            <a:ext cx="7000000" cy="300000"/>
          </a:xfrm>
          <a:prstGeom prst="rect">
            <a:avLst/>
          </a:prstGeom>
          <a:noFill/>
        </p:spPr>
        <p:txBody>
          <a:bodyPr wrap="square" lIns="0" tIns="0" rIns="0" bIns="0" anchor="t">
            <a:spAutoFit/>
          </a:bodyPr>
          <a:lstStyle/>
          <a:p>
            <a:pPr algn="l"/>
            <a:r>
              <a:rPr sz="950" b="0" i="0">
                <a:solidFill>
                  <a:srgbClr val="5A5673"/>
                </a:solidFill>
                <a:latin typeface="Arial"/>
              </a:rPr>
              <a:t>Kalpa Health  ·  Brief A — Growth</a:t>
            </a:r>
          </a:p>
        </p:txBody>
      </p:sp>
      <p:sp>
        <p:nvSpPr>
          <p:cNvPr id="12" name="TextBox 11"/>
          <p:cNvSpPr txBox="1"/>
          <p:nvPr/>
        </p:nvSpPr>
        <p:spPr>
          <a:xfrm>
            <a:off x="5180000" y="5140000"/>
            <a:ext cx="6340000" cy="1001300"/>
          </a:xfrm>
          <a:prstGeom prst="rect">
            <a:avLst/>
          </a:prstGeom>
          <a:noFill/>
        </p:spPr>
        <p:txBody>
          <a:bodyPr wrap="square" lIns="0" tIns="0" rIns="0" bIns="0" anchor="t">
            <a:spAutoFit/>
          </a:bodyPr>
          <a:lstStyle/>
          <a:p>
            <a:pPr algn="l">
              <a:lnSpc>
                <a:spcPct val="112000"/>
              </a:lnSpc>
            </a:pPr>
            <a:r>
              <a:rPr sz="1200" b="1" i="0" dirty="0">
                <a:solidFill>
                  <a:srgbClr val="A62B3E"/>
                </a:solidFill>
                <a:latin typeface="Arial"/>
              </a:rPr>
              <a:t>Basis: not approved for operational decisions.</a:t>
            </a:r>
          </a:p>
          <a:p>
            <a:pPr algn="l">
              <a:lnSpc>
                <a:spcPct val="112000"/>
              </a:lnSpc>
              <a:spcBef>
                <a:spcPts val="200"/>
              </a:spcBef>
            </a:pPr>
            <a:r>
              <a:rPr sz="1100" b="0" i="0" dirty="0">
                <a:solidFill>
                  <a:srgbClr val="5A5673"/>
                </a:solidFill>
                <a:latin typeface="Arial"/>
              </a:rPr>
              <a:t>The six values sum exactly to 60,357, which the 30/36 exact-label scope cannot produce on its own — so they behave like the 36/36 alias sensitivity, pending owner approval. If owners confirm exact-label scope, this chart must be recomputed on that scope with unmatched keys shown.</a:t>
            </a:r>
          </a:p>
          <a:p>
            <a:pPr algn="l">
              <a:lnSpc>
                <a:spcPct val="112000"/>
              </a:lnSpc>
              <a:spcBef>
                <a:spcPts val="200"/>
              </a:spcBef>
            </a:pPr>
            <a:r>
              <a:rPr sz="1100" b="0" i="1" dirty="0">
                <a:solidFill>
                  <a:srgbClr val="5A5673"/>
                </a:solidFill>
                <a:latin typeface="Arial"/>
              </a:rPr>
              <a:t>Bar length = shortfall magnitude; labels are signed, negative meaning below plan.</a:t>
            </a:r>
          </a:p>
        </p:txBody>
      </p:sp>
      <p:sp>
        <p:nvSpPr>
          <p:cNvPr id="13" name="TextBox 12"/>
          <p:cNvSpPr txBox="1"/>
          <p:nvPr/>
        </p:nvSpPr>
        <p:spPr>
          <a:xfrm>
            <a:off x="457200" y="1498277"/>
            <a:ext cx="4400000" cy="215444"/>
          </a:xfrm>
          <a:prstGeom prst="rect">
            <a:avLst/>
          </a:prstGeom>
          <a:noFill/>
        </p:spPr>
        <p:txBody>
          <a:bodyPr wrap="square" lIns="0" tIns="0" rIns="0" bIns="0" anchor="t">
            <a:spAutoFit/>
          </a:bodyPr>
          <a:lstStyle/>
          <a:p>
            <a:pPr algn="l"/>
            <a:r>
              <a:rPr sz="1400" b="1" i="0" dirty="0">
                <a:solidFill>
                  <a:srgbClr val="4E38AB"/>
                </a:solidFill>
                <a:latin typeface="Arial"/>
              </a:rPr>
              <a:t>THE FIVE NUMBERS</a:t>
            </a:r>
          </a:p>
        </p:txBody>
      </p:sp>
      <p:sp>
        <p:nvSpPr>
          <p:cNvPr id="14" name="TextBox 13"/>
          <p:cNvSpPr txBox="1"/>
          <p:nvPr/>
        </p:nvSpPr>
        <p:spPr>
          <a:xfrm>
            <a:off x="457200" y="1743640"/>
            <a:ext cx="4300000" cy="615553"/>
          </a:xfrm>
          <a:prstGeom prst="rect">
            <a:avLst/>
          </a:prstGeom>
          <a:noFill/>
        </p:spPr>
        <p:txBody>
          <a:bodyPr wrap="square" lIns="0" tIns="0" rIns="0" bIns="0" anchor="ctr">
            <a:spAutoFit/>
          </a:bodyPr>
          <a:lstStyle/>
          <a:p>
            <a:pPr algn="l"/>
            <a:r>
              <a:rPr sz="1100" b="1" i="0" dirty="0">
                <a:solidFill>
                  <a:srgbClr val="5A5673"/>
                </a:solidFill>
                <a:latin typeface="Arial"/>
              </a:rPr>
              <a:t>Prior period · H1 2025</a:t>
            </a:r>
          </a:p>
          <a:p>
            <a:pPr algn="l"/>
            <a:r>
              <a:rPr b="1" i="0" dirty="0">
                <a:solidFill>
                  <a:srgbClr val="1A1440"/>
                </a:solidFill>
                <a:latin typeface="Arial"/>
              </a:rPr>
              <a:t>433,611</a:t>
            </a:r>
          </a:p>
          <a:p>
            <a:pPr algn="l"/>
            <a:r>
              <a:rPr sz="1100" b="0" i="0" dirty="0">
                <a:solidFill>
                  <a:srgbClr val="5A5673"/>
                </a:solidFill>
                <a:latin typeface="Arial"/>
              </a:rPr>
              <a:t>same metric definition</a:t>
            </a:r>
          </a:p>
        </p:txBody>
      </p:sp>
      <p:sp>
        <p:nvSpPr>
          <p:cNvPr id="15" name="TextBox 14"/>
          <p:cNvSpPr txBox="1"/>
          <p:nvPr/>
        </p:nvSpPr>
        <p:spPr>
          <a:xfrm>
            <a:off x="457200" y="2442931"/>
            <a:ext cx="4300000" cy="615553"/>
          </a:xfrm>
          <a:prstGeom prst="rect">
            <a:avLst/>
          </a:prstGeom>
          <a:noFill/>
        </p:spPr>
        <p:txBody>
          <a:bodyPr wrap="square" lIns="0" tIns="0" rIns="0" bIns="0" anchor="ctr">
            <a:spAutoFit/>
          </a:bodyPr>
          <a:lstStyle/>
          <a:p>
            <a:pPr algn="l"/>
            <a:r>
              <a:rPr sz="1100" b="1" i="0" dirty="0">
                <a:solidFill>
                  <a:srgbClr val="5A5673"/>
                </a:solidFill>
                <a:latin typeface="Arial"/>
              </a:rPr>
              <a:t>Current · H1 2026</a:t>
            </a:r>
          </a:p>
          <a:p>
            <a:pPr algn="l"/>
            <a:r>
              <a:rPr b="1" i="0" dirty="0">
                <a:solidFill>
                  <a:srgbClr val="1A1440"/>
                </a:solidFill>
                <a:latin typeface="Arial"/>
              </a:rPr>
              <a:t>455,383</a:t>
            </a:r>
          </a:p>
          <a:p>
            <a:pPr algn="l"/>
            <a:r>
              <a:rPr sz="1100" b="0" i="0" dirty="0">
                <a:solidFill>
                  <a:srgbClr val="5A5673"/>
                </a:solidFill>
                <a:latin typeface="Arial"/>
              </a:rPr>
              <a:t>same metric definition</a:t>
            </a:r>
          </a:p>
        </p:txBody>
      </p:sp>
      <p:sp>
        <p:nvSpPr>
          <p:cNvPr id="16" name="TextBox 15"/>
          <p:cNvSpPr txBox="1"/>
          <p:nvPr/>
        </p:nvSpPr>
        <p:spPr>
          <a:xfrm>
            <a:off x="457200" y="3142222"/>
            <a:ext cx="4300000" cy="615553"/>
          </a:xfrm>
          <a:prstGeom prst="rect">
            <a:avLst/>
          </a:prstGeom>
          <a:noFill/>
        </p:spPr>
        <p:txBody>
          <a:bodyPr wrap="square" lIns="0" tIns="0" rIns="0" bIns="0" anchor="ctr">
            <a:spAutoFit/>
          </a:bodyPr>
          <a:lstStyle/>
          <a:p>
            <a:pPr algn="l"/>
            <a:r>
              <a:rPr sz="1100" b="1" i="0" dirty="0">
                <a:solidFill>
                  <a:srgbClr val="5A5673"/>
                </a:solidFill>
                <a:latin typeface="Arial"/>
              </a:rPr>
              <a:t>Year-on-year change</a:t>
            </a:r>
          </a:p>
          <a:p>
            <a:pPr algn="l"/>
            <a:r>
              <a:rPr b="1" i="0" dirty="0">
                <a:solidFill>
                  <a:srgbClr val="1A1440"/>
                </a:solidFill>
                <a:latin typeface="Arial"/>
              </a:rPr>
              <a:t>+21,772</a:t>
            </a:r>
          </a:p>
          <a:p>
            <a:pPr algn="l"/>
            <a:r>
              <a:rPr sz="1100" b="0" i="0" dirty="0">
                <a:solidFill>
                  <a:srgbClr val="5A5673"/>
                </a:solidFill>
                <a:latin typeface="Arial"/>
              </a:rPr>
              <a:t>+5.02%</a:t>
            </a:r>
          </a:p>
        </p:txBody>
      </p:sp>
      <p:sp>
        <p:nvSpPr>
          <p:cNvPr id="17" name="TextBox 16"/>
          <p:cNvSpPr txBox="1"/>
          <p:nvPr/>
        </p:nvSpPr>
        <p:spPr>
          <a:xfrm>
            <a:off x="457200" y="3832861"/>
            <a:ext cx="4300000" cy="615553"/>
          </a:xfrm>
          <a:prstGeom prst="rect">
            <a:avLst/>
          </a:prstGeom>
          <a:noFill/>
        </p:spPr>
        <p:txBody>
          <a:bodyPr wrap="square" lIns="0" tIns="0" rIns="0" bIns="0" anchor="ctr">
            <a:spAutoFit/>
          </a:bodyPr>
          <a:lstStyle/>
          <a:p>
            <a:pPr algn="l"/>
            <a:r>
              <a:rPr sz="1100" b="1" i="0" dirty="0">
                <a:solidFill>
                  <a:srgbClr val="5A5673"/>
                </a:solidFill>
                <a:latin typeface="Arial"/>
              </a:rPr>
              <a:t>H1 2026 plan</a:t>
            </a:r>
          </a:p>
          <a:p>
            <a:pPr algn="l"/>
            <a:r>
              <a:rPr b="1" i="0" dirty="0">
                <a:solidFill>
                  <a:srgbClr val="1A1440"/>
                </a:solidFill>
                <a:latin typeface="Arial"/>
              </a:rPr>
              <a:t>515,740</a:t>
            </a:r>
          </a:p>
          <a:p>
            <a:pPr algn="l"/>
            <a:r>
              <a:rPr sz="1100" b="0" i="0" dirty="0">
                <a:solidFill>
                  <a:srgbClr val="5A5673"/>
                </a:solidFill>
                <a:latin typeface="Arial"/>
              </a:rPr>
              <a:t>implies +18.94%</a:t>
            </a:r>
          </a:p>
        </p:txBody>
      </p:sp>
      <p:sp>
        <p:nvSpPr>
          <p:cNvPr id="18" name="TextBox 17"/>
          <p:cNvSpPr txBox="1"/>
          <p:nvPr/>
        </p:nvSpPr>
        <p:spPr>
          <a:xfrm>
            <a:off x="457200" y="4528726"/>
            <a:ext cx="4300000" cy="615553"/>
          </a:xfrm>
          <a:prstGeom prst="rect">
            <a:avLst/>
          </a:prstGeom>
          <a:noFill/>
        </p:spPr>
        <p:txBody>
          <a:bodyPr wrap="square" lIns="0" tIns="0" rIns="0" bIns="0" anchor="ctr">
            <a:spAutoFit/>
          </a:bodyPr>
          <a:lstStyle/>
          <a:p>
            <a:pPr algn="l"/>
            <a:r>
              <a:rPr sz="1100" b="1" i="0" dirty="0">
                <a:solidFill>
                  <a:srgbClr val="5A5673"/>
                </a:solidFill>
                <a:latin typeface="Arial"/>
              </a:rPr>
              <a:t>Candidate plan shortfall</a:t>
            </a:r>
          </a:p>
          <a:p>
            <a:pPr algn="l"/>
            <a:r>
              <a:rPr b="1" i="0" dirty="0">
                <a:solidFill>
                  <a:srgbClr val="A62B3E"/>
                </a:solidFill>
                <a:latin typeface="Arial"/>
              </a:rPr>
              <a:t>60,357</a:t>
            </a:r>
          </a:p>
          <a:p>
            <a:pPr algn="l"/>
            <a:r>
              <a:rPr sz="1100" b="0" i="0" dirty="0">
                <a:solidFill>
                  <a:srgbClr val="5A5673"/>
                </a:solidFill>
                <a:latin typeface="Arial"/>
              </a:rPr>
              <a:t>−11.70% · 88.30% attained</a:t>
            </a:r>
          </a:p>
        </p:txBody>
      </p:sp>
      <p:sp>
        <p:nvSpPr>
          <p:cNvPr id="19" name="TextBox 18"/>
          <p:cNvSpPr txBox="1"/>
          <p:nvPr/>
        </p:nvSpPr>
        <p:spPr>
          <a:xfrm>
            <a:off x="457200" y="5275229"/>
            <a:ext cx="4300000" cy="866071"/>
          </a:xfrm>
          <a:prstGeom prst="rect">
            <a:avLst/>
          </a:prstGeom>
          <a:noFill/>
        </p:spPr>
        <p:txBody>
          <a:bodyPr wrap="square" lIns="0" tIns="0" rIns="0" bIns="0" anchor="t">
            <a:spAutoFit/>
          </a:bodyPr>
          <a:lstStyle/>
          <a:p>
            <a:pPr algn="l">
              <a:lnSpc>
                <a:spcPct val="120000"/>
              </a:lnSpc>
            </a:pPr>
            <a:r>
              <a:rPr sz="1200" b="0" i="0" dirty="0">
                <a:solidFill>
                  <a:srgbClr val="5A5673"/>
                </a:solidFill>
                <a:latin typeface="Arial"/>
              </a:rPr>
              <a:t>All counts use the same metric definition: sum of </a:t>
            </a:r>
            <a:r>
              <a:rPr sz="1200" b="0" i="0" dirty="0" err="1">
                <a:solidFill>
                  <a:srgbClr val="5A5673"/>
                </a:solidFill>
                <a:latin typeface="Arial"/>
              </a:rPr>
              <a:t>n_tests</a:t>
            </a:r>
            <a:r>
              <a:rPr sz="1200" b="0" i="0" dirty="0">
                <a:solidFill>
                  <a:srgbClr val="5A5673"/>
                </a:solidFill>
                <a:latin typeface="Arial"/>
              </a:rPr>
              <a:t> on validated bookings, superseded rescheduled records removed; H1 periods based on </a:t>
            </a:r>
            <a:r>
              <a:rPr sz="1200" b="0" i="0" dirty="0" err="1">
                <a:solidFill>
                  <a:srgbClr val="5A5673"/>
                </a:solidFill>
                <a:latin typeface="Arial"/>
              </a:rPr>
              <a:t>slot_at</a:t>
            </a:r>
            <a:r>
              <a:rPr sz="1200" b="0" i="0" dirty="0">
                <a:solidFill>
                  <a:srgbClr val="5A5673"/>
                </a:solidFill>
                <a:latin typeface="Arial"/>
              </a:rPr>
              <a:t>. Plan total shown beside actual so the 60,357-line gap is traceable without arithmetic on stage.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276999"/>
          </a:xfrm>
          <a:prstGeom prst="rect">
            <a:avLst/>
          </a:prstGeom>
          <a:noFill/>
        </p:spPr>
        <p:txBody>
          <a:bodyPr wrap="square">
            <a:spAutoFit/>
          </a:bodyPr>
          <a:lstStyle/>
          <a:p>
            <a:pPr algn="l"/>
            <a:r>
              <a:rPr sz="1200" b="1" dirty="0">
                <a:solidFill>
                  <a:srgbClr val="4E38AB"/>
                </a:solidFill>
                <a:latin typeface="Arial"/>
              </a:rPr>
              <a:t>5 · THE CAVEAT AND THE ALTERNATIVE</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5 / 6</a:t>
            </a:r>
          </a:p>
        </p:txBody>
      </p:sp>
      <p:sp>
        <p:nvSpPr>
          <p:cNvPr id="7" name="TextBox 6"/>
          <p:cNvSpPr txBox="1"/>
          <p:nvPr/>
        </p:nvSpPr>
        <p:spPr>
          <a:xfrm>
            <a:off x="457200" y="640080"/>
            <a:ext cx="11247120" cy="492443"/>
          </a:xfrm>
          <a:prstGeom prst="rect">
            <a:avLst/>
          </a:prstGeom>
          <a:noFill/>
        </p:spPr>
        <p:txBody>
          <a:bodyPr wrap="square">
            <a:spAutoFit/>
          </a:bodyPr>
          <a:lstStyle/>
          <a:p>
            <a:pPr algn="l"/>
            <a:r>
              <a:rPr sz="2600" b="1" dirty="0">
                <a:solidFill>
                  <a:srgbClr val="1A1440"/>
                </a:solidFill>
                <a:latin typeface="Arial"/>
              </a:rPr>
              <a:t>What would change the claim; the approach we did not use</a:t>
            </a:r>
          </a:p>
        </p:txBody>
      </p:sp>
      <p:sp>
        <p:nvSpPr>
          <p:cNvPr id="8" name="TextBox 7"/>
          <p:cNvSpPr txBox="1"/>
          <p:nvPr/>
        </p:nvSpPr>
        <p:spPr>
          <a:xfrm>
            <a:off x="457200" y="6330000"/>
            <a:ext cx="7000000" cy="300000"/>
          </a:xfrm>
          <a:prstGeom prst="rect">
            <a:avLst/>
          </a:prstGeom>
          <a:noFill/>
        </p:spPr>
        <p:txBody>
          <a:bodyPr wrap="square" lIns="0" tIns="0" rIns="0" bIns="0" anchor="t">
            <a:spAutoFit/>
          </a:bodyPr>
          <a:lstStyle/>
          <a:p>
            <a:pPr algn="l"/>
            <a:r>
              <a:rPr sz="950" b="0" i="0">
                <a:solidFill>
                  <a:srgbClr val="5A5673"/>
                </a:solidFill>
                <a:latin typeface="Arial"/>
              </a:rPr>
              <a:t>Kalpa Health  ·  Brief A — Growth</a:t>
            </a:r>
          </a:p>
        </p:txBody>
      </p:sp>
      <p:sp>
        <p:nvSpPr>
          <p:cNvPr id="9" name="Rounded Rectangle 8"/>
          <p:cNvSpPr/>
          <p:nvPr/>
        </p:nvSpPr>
        <p:spPr>
          <a:xfrm>
            <a:off x="457200" y="1520000"/>
            <a:ext cx="6050000" cy="3550000"/>
          </a:xfrm>
          <a:prstGeom prst="roundRect">
            <a:avLst>
              <a:gd name="adj" fmla="val 4500"/>
            </a:avLst>
          </a:prstGeom>
          <a:solidFill>
            <a:srgbClr val="F3F1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757200" y="1640000"/>
            <a:ext cx="5500000" cy="230832"/>
          </a:xfrm>
          <a:prstGeom prst="rect">
            <a:avLst/>
          </a:prstGeom>
          <a:noFill/>
        </p:spPr>
        <p:txBody>
          <a:bodyPr wrap="square" lIns="0" tIns="0" rIns="0" bIns="0" anchor="t">
            <a:spAutoFit/>
          </a:bodyPr>
          <a:lstStyle/>
          <a:p>
            <a:pPr algn="l"/>
            <a:r>
              <a:rPr sz="1500" b="1" i="0" dirty="0">
                <a:solidFill>
                  <a:srgbClr val="4E38AB"/>
                </a:solidFill>
                <a:latin typeface="Arial"/>
              </a:rPr>
              <a:t>WHAT WOULD CHANGE THE CLAIM</a:t>
            </a:r>
          </a:p>
        </p:txBody>
      </p:sp>
      <p:sp>
        <p:nvSpPr>
          <p:cNvPr id="11" name="TextBox 10"/>
          <p:cNvSpPr txBox="1"/>
          <p:nvPr/>
        </p:nvSpPr>
        <p:spPr>
          <a:xfrm>
            <a:off x="757200" y="1990000"/>
            <a:ext cx="5500000" cy="2437590"/>
          </a:xfrm>
          <a:prstGeom prst="rect">
            <a:avLst/>
          </a:prstGeom>
          <a:noFill/>
        </p:spPr>
        <p:txBody>
          <a:bodyPr wrap="square" lIns="0" tIns="0" rIns="0" bIns="0" anchor="t">
            <a:spAutoFit/>
          </a:bodyPr>
          <a:lstStyle/>
          <a:p>
            <a:pPr>
              <a:lnSpc>
                <a:spcPct val="118000"/>
              </a:lnSpc>
              <a:spcBef>
                <a:spcPts val="0"/>
              </a:spcBef>
            </a:pPr>
            <a:r>
              <a:rPr sz="1300" b="1" dirty="0">
                <a:solidFill>
                  <a:srgbClr val="4E38AB"/>
                </a:solidFill>
                <a:latin typeface="Arial"/>
              </a:rPr>
              <a:t>—  </a:t>
            </a:r>
            <a:r>
              <a:rPr sz="1300" b="1" dirty="0">
                <a:solidFill>
                  <a:srgbClr val="1A1440"/>
                </a:solidFill>
                <a:latin typeface="Arial"/>
              </a:rPr>
              <a:t>Official KPI still unconfirmed. </a:t>
            </a:r>
            <a:r>
              <a:rPr sz="1200" dirty="0">
                <a:solidFill>
                  <a:srgbClr val="5A5673"/>
                </a:solidFill>
                <a:latin typeface="Arial"/>
              </a:rPr>
              <a:t>Notebook 06’s headline says “collected or no-show”, but its code does not filter collection status. A collection-only KPI would move every number here.</a:t>
            </a:r>
          </a:p>
          <a:p>
            <a:pPr>
              <a:lnSpc>
                <a:spcPct val="118000"/>
              </a:lnSpc>
              <a:spcBef>
                <a:spcPts val="1100"/>
              </a:spcBef>
            </a:pPr>
            <a:r>
              <a:rPr sz="1300" b="1" dirty="0">
                <a:solidFill>
                  <a:srgbClr val="4E38AB"/>
                </a:solidFill>
                <a:latin typeface="Arial"/>
              </a:rPr>
              <a:t>—  </a:t>
            </a:r>
            <a:r>
              <a:rPr sz="1300" b="1" dirty="0">
                <a:solidFill>
                  <a:srgbClr val="1A1440"/>
                </a:solidFill>
                <a:latin typeface="Arial"/>
              </a:rPr>
              <a:t>Booking lines are not performed tests. </a:t>
            </a:r>
            <a:r>
              <a:rPr sz="1200" dirty="0">
                <a:solidFill>
                  <a:srgbClr val="5A5673"/>
                </a:solidFill>
                <a:latin typeface="Arial"/>
              </a:rPr>
              <a:t>If no-shows or reschedules are large, the gap to plan moves without any change in demand.</a:t>
            </a:r>
          </a:p>
          <a:p>
            <a:pPr>
              <a:lnSpc>
                <a:spcPct val="118000"/>
              </a:lnSpc>
              <a:spcBef>
                <a:spcPts val="1100"/>
              </a:spcBef>
            </a:pPr>
            <a:r>
              <a:rPr sz="1300" b="1" dirty="0">
                <a:solidFill>
                  <a:srgbClr val="4E38AB"/>
                </a:solidFill>
                <a:latin typeface="Arial"/>
              </a:rPr>
              <a:t>—  </a:t>
            </a:r>
            <a:r>
              <a:rPr sz="1300" b="1" dirty="0">
                <a:solidFill>
                  <a:srgbClr val="1A1440"/>
                </a:solidFill>
                <a:latin typeface="Arial"/>
              </a:rPr>
              <a:t>City crosswalk unconfirmed. </a:t>
            </a:r>
            <a:r>
              <a:rPr sz="1200" dirty="0">
                <a:solidFill>
                  <a:srgbClr val="5A5673"/>
                </a:solidFill>
                <a:latin typeface="Arial"/>
              </a:rPr>
              <a:t>The Bangalore/Bengaluru plan mapping is not owner-approved, so the six-city split stays provisional.</a:t>
            </a:r>
          </a:p>
          <a:p>
            <a:pPr>
              <a:lnSpc>
                <a:spcPct val="118000"/>
              </a:lnSpc>
              <a:spcBef>
                <a:spcPts val="1100"/>
              </a:spcBef>
            </a:pPr>
            <a:r>
              <a:rPr sz="1300" b="1" dirty="0">
                <a:solidFill>
                  <a:srgbClr val="4E38AB"/>
                </a:solidFill>
                <a:latin typeface="Arial"/>
              </a:rPr>
              <a:t>—  </a:t>
            </a:r>
            <a:r>
              <a:rPr sz="1300" b="1" dirty="0">
                <a:solidFill>
                  <a:srgbClr val="1A1440"/>
                </a:solidFill>
                <a:latin typeface="Arial"/>
              </a:rPr>
              <a:t>Chart basis, stated. </a:t>
            </a:r>
            <a:r>
              <a:rPr sz="1200" dirty="0">
                <a:solidFill>
                  <a:srgbClr val="5A5673"/>
                </a:solidFill>
                <a:latin typeface="Arial"/>
              </a:rPr>
              <a:t>The city bars are labelled candidate, alias-sensitive and unverified — not an approved exact-label result.</a:t>
            </a:r>
          </a:p>
        </p:txBody>
      </p:sp>
      <p:sp>
        <p:nvSpPr>
          <p:cNvPr id="12" name="Rounded Rectangle 11"/>
          <p:cNvSpPr/>
          <p:nvPr/>
        </p:nvSpPr>
        <p:spPr>
          <a:xfrm>
            <a:off x="6720000" y="1520000"/>
            <a:ext cx="4770000" cy="3550000"/>
          </a:xfrm>
          <a:prstGeom prst="roundRect">
            <a:avLst>
              <a:gd name="adj" fmla="val 4500"/>
            </a:avLst>
          </a:prstGeom>
          <a:solidFill>
            <a:srgbClr val="FFFFFF"/>
          </a:solidFill>
          <a:ln w="15875">
            <a:solidFill>
              <a:srgbClr val="D9D4E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7020000" y="1640000"/>
            <a:ext cx="4200000" cy="230832"/>
          </a:xfrm>
          <a:prstGeom prst="rect">
            <a:avLst/>
          </a:prstGeom>
          <a:noFill/>
        </p:spPr>
        <p:txBody>
          <a:bodyPr wrap="square" lIns="0" tIns="0" rIns="0" bIns="0" anchor="t">
            <a:spAutoFit/>
          </a:bodyPr>
          <a:lstStyle/>
          <a:p>
            <a:pPr algn="l"/>
            <a:r>
              <a:rPr sz="1500" b="1" i="0" dirty="0">
                <a:solidFill>
                  <a:srgbClr val="4E38AB"/>
                </a:solidFill>
                <a:latin typeface="Arial"/>
              </a:rPr>
              <a:t>THE ALTERNATIVE WE DID NOT USE</a:t>
            </a:r>
          </a:p>
        </p:txBody>
      </p:sp>
      <p:sp>
        <p:nvSpPr>
          <p:cNvPr id="14" name="TextBox 13"/>
          <p:cNvSpPr txBox="1"/>
          <p:nvPr/>
        </p:nvSpPr>
        <p:spPr>
          <a:xfrm>
            <a:off x="7020000" y="1990000"/>
            <a:ext cx="4200000" cy="2755370"/>
          </a:xfrm>
          <a:prstGeom prst="rect">
            <a:avLst/>
          </a:prstGeom>
          <a:noFill/>
        </p:spPr>
        <p:txBody>
          <a:bodyPr wrap="square" lIns="0" tIns="0" rIns="0" bIns="0" anchor="t">
            <a:spAutoFit/>
          </a:bodyPr>
          <a:lstStyle/>
          <a:p>
            <a:pPr algn="l">
              <a:lnSpc>
                <a:spcPct val="118000"/>
              </a:lnSpc>
            </a:pPr>
            <a:r>
              <a:rPr sz="1400" b="1" i="0" dirty="0">
                <a:solidFill>
                  <a:srgbClr val="1A1440"/>
                </a:solidFill>
                <a:latin typeface="Arial"/>
              </a:rPr>
              <a:t>The city-alias sensitivity (36 of 36 keys matched) as the official mapping.</a:t>
            </a:r>
          </a:p>
          <a:p>
            <a:pPr algn="l">
              <a:lnSpc>
                <a:spcPct val="118000"/>
              </a:lnSpc>
              <a:spcBef>
                <a:spcPts val="700"/>
              </a:spcBef>
            </a:pPr>
            <a:r>
              <a:rPr sz="1200" b="0" i="0" dirty="0">
                <a:solidFill>
                  <a:srgbClr val="5A5673"/>
                </a:solidFill>
                <a:latin typeface="Arial"/>
              </a:rPr>
              <a:t>We did not adopt it. The alias match is not owner-approved, so it stays a sensitivity — and the chart is not presented as an approved exact-label result either. Neither version is being presented as cleaner than the other; the basis is unresolved and labelled as such.</a:t>
            </a:r>
          </a:p>
          <a:p>
            <a:pPr algn="l">
              <a:spcBef>
                <a:spcPts val="1300"/>
              </a:spcBef>
            </a:pPr>
            <a:r>
              <a:rPr sz="1400" b="1" i="0" dirty="0">
                <a:solidFill>
                  <a:srgbClr val="1A1440"/>
                </a:solidFill>
                <a:latin typeface="Arial"/>
              </a:rPr>
              <a:t>Also unresolved: channels.</a:t>
            </a:r>
          </a:p>
          <a:p>
            <a:pPr algn="l">
              <a:lnSpc>
                <a:spcPct val="118000"/>
              </a:lnSpc>
              <a:spcBef>
                <a:spcPts val="400"/>
              </a:spcBef>
            </a:pPr>
            <a:r>
              <a:rPr sz="1200" b="0" i="0" dirty="0">
                <a:solidFill>
                  <a:srgbClr val="5A5673"/>
                </a:solidFill>
                <a:latin typeface="Arial"/>
              </a:rPr>
              <a:t>Our city/channel work found the systems do not support a clean like-for-like channel trend, so no channel conclusion is offered here.</a:t>
            </a:r>
          </a:p>
        </p:txBody>
      </p:sp>
      <p:sp>
        <p:nvSpPr>
          <p:cNvPr id="15" name="Rounded Rectangle 14"/>
          <p:cNvSpPr/>
          <p:nvPr/>
        </p:nvSpPr>
        <p:spPr>
          <a:xfrm>
            <a:off x="457200" y="5340000"/>
            <a:ext cx="11247600" cy="620000"/>
          </a:xfrm>
          <a:prstGeom prst="roundRect">
            <a:avLst>
              <a:gd name="adj" fmla="val 4500"/>
            </a:avLst>
          </a:prstGeom>
          <a:solidFill>
            <a:srgbClr val="4E38A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757200" y="5542278"/>
            <a:ext cx="10647600" cy="215444"/>
          </a:xfrm>
          <a:prstGeom prst="rect">
            <a:avLst/>
          </a:prstGeom>
          <a:noFill/>
        </p:spPr>
        <p:txBody>
          <a:bodyPr wrap="square" lIns="0" tIns="0" rIns="0" bIns="0" anchor="ctr">
            <a:spAutoFit/>
          </a:bodyPr>
          <a:lstStyle/>
          <a:p>
            <a:pPr algn="ctr"/>
            <a:r>
              <a:rPr sz="1400" b="1" i="0" dirty="0">
                <a:solidFill>
                  <a:srgbClr val="FFFFFF"/>
                </a:solidFill>
                <a:latin typeface="Arial"/>
              </a:rPr>
              <a:t>Net effect: these caveats do not move the +5.02% growth claim. They do move the size of the 60,357-line gap and where it sits.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276999"/>
          </a:xfrm>
          <a:prstGeom prst="rect">
            <a:avLst/>
          </a:prstGeom>
          <a:noFill/>
        </p:spPr>
        <p:txBody>
          <a:bodyPr wrap="square">
            <a:spAutoFit/>
          </a:bodyPr>
          <a:lstStyle/>
          <a:p>
            <a:pPr algn="l"/>
            <a:r>
              <a:rPr sz="1200" b="1" dirty="0">
                <a:solidFill>
                  <a:srgbClr val="4E38AB"/>
                </a:solidFill>
                <a:latin typeface="Arial"/>
              </a:rPr>
              <a:t>6 · THE ACTION</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6 / 6</a:t>
            </a:r>
          </a:p>
        </p:txBody>
      </p:sp>
      <p:sp>
        <p:nvSpPr>
          <p:cNvPr id="7" name="TextBox 6"/>
          <p:cNvSpPr txBox="1"/>
          <p:nvPr/>
        </p:nvSpPr>
        <p:spPr>
          <a:xfrm>
            <a:off x="457200" y="640080"/>
            <a:ext cx="11247120" cy="492443"/>
          </a:xfrm>
          <a:prstGeom prst="rect">
            <a:avLst/>
          </a:prstGeom>
          <a:noFill/>
        </p:spPr>
        <p:txBody>
          <a:bodyPr wrap="square">
            <a:spAutoFit/>
          </a:bodyPr>
          <a:lstStyle/>
          <a:p>
            <a:pPr algn="l"/>
            <a:r>
              <a:rPr sz="2600" b="1" dirty="0">
                <a:solidFill>
                  <a:srgbClr val="1A1440"/>
                </a:solidFill>
                <a:latin typeface="Arial"/>
              </a:rPr>
              <a:t>Confirm the rule first; only then rerun and decide</a:t>
            </a:r>
          </a:p>
        </p:txBody>
      </p:sp>
      <p:sp>
        <p:nvSpPr>
          <p:cNvPr id="8" name="TextBox 7"/>
          <p:cNvSpPr txBox="1"/>
          <p:nvPr/>
        </p:nvSpPr>
        <p:spPr>
          <a:xfrm>
            <a:off x="457200" y="6330000"/>
            <a:ext cx="7000000" cy="300000"/>
          </a:xfrm>
          <a:prstGeom prst="rect">
            <a:avLst/>
          </a:prstGeom>
          <a:noFill/>
        </p:spPr>
        <p:txBody>
          <a:bodyPr wrap="square" lIns="0" tIns="0" rIns="0" bIns="0" anchor="t">
            <a:spAutoFit/>
          </a:bodyPr>
          <a:lstStyle/>
          <a:p>
            <a:pPr algn="l"/>
            <a:r>
              <a:rPr sz="950" b="0" i="0">
                <a:solidFill>
                  <a:srgbClr val="5A5673"/>
                </a:solidFill>
                <a:latin typeface="Arial"/>
              </a:rPr>
              <a:t>Kalpa Health  ·  Brief A — Growth</a:t>
            </a:r>
          </a:p>
        </p:txBody>
      </p:sp>
      <p:sp>
        <p:nvSpPr>
          <p:cNvPr id="9" name="Rounded Rectangle 8"/>
          <p:cNvSpPr/>
          <p:nvPr/>
        </p:nvSpPr>
        <p:spPr>
          <a:xfrm>
            <a:off x="457200" y="1700000"/>
            <a:ext cx="2650000" cy="2330000"/>
          </a:xfrm>
          <a:prstGeom prst="roundRect">
            <a:avLst>
              <a:gd name="adj" fmla="val 4500"/>
            </a:avLst>
          </a:prstGeom>
          <a:solidFill>
            <a:srgbClr val="F3F1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687200" y="1890000"/>
            <a:ext cx="2190000" cy="2050000"/>
          </a:xfrm>
          <a:prstGeom prst="rect">
            <a:avLst/>
          </a:prstGeom>
          <a:noFill/>
        </p:spPr>
        <p:txBody>
          <a:bodyPr wrap="square" lIns="0" tIns="0" rIns="0" bIns="0" anchor="t">
            <a:spAutoFit/>
          </a:bodyPr>
          <a:lstStyle/>
          <a:p>
            <a:pPr algn="l"/>
            <a:r>
              <a:rPr sz="1400" b="1" i="0" dirty="0">
                <a:solidFill>
                  <a:srgbClr val="4E38AB"/>
                </a:solidFill>
                <a:latin typeface="Arial"/>
              </a:rPr>
              <a:t>1</a:t>
            </a:r>
          </a:p>
          <a:p>
            <a:pPr algn="l">
              <a:lnSpc>
                <a:spcPct val="110000"/>
              </a:lnSpc>
              <a:spcBef>
                <a:spcPts val="100"/>
              </a:spcBef>
            </a:pPr>
            <a:r>
              <a:rPr sz="1400" b="1" i="0" dirty="0">
                <a:solidFill>
                  <a:srgbClr val="1A1440"/>
                </a:solidFill>
                <a:latin typeface="Arial"/>
              </a:rPr>
              <a:t>CONFIRM THE RULE</a:t>
            </a:r>
          </a:p>
          <a:p>
            <a:pPr algn="l">
              <a:lnSpc>
                <a:spcPct val="115000"/>
              </a:lnSpc>
              <a:spcBef>
                <a:spcPts val="900"/>
              </a:spcBef>
            </a:pPr>
            <a:r>
              <a:rPr sz="1050" b="0" i="0" dirty="0">
                <a:solidFill>
                  <a:srgbClr val="4E38AB"/>
                </a:solidFill>
                <a:latin typeface="Arial"/>
              </a:rPr>
              <a:t>KPI owner + Data/BI · Finance for the crosswalk</a:t>
            </a:r>
          </a:p>
          <a:p>
            <a:pPr algn="l">
              <a:lnSpc>
                <a:spcPct val="115000"/>
              </a:lnSpc>
              <a:spcBef>
                <a:spcPts val="200"/>
              </a:spcBef>
            </a:pPr>
            <a:r>
              <a:rPr sz="1050" b="1" i="0" dirty="0">
                <a:solidFill>
                  <a:srgbClr val="5A5673"/>
                </a:solidFill>
                <a:latin typeface="Arial"/>
              </a:rPr>
              <a:t>Inside one analyst day</a:t>
            </a:r>
          </a:p>
          <a:p>
            <a:pPr algn="l">
              <a:lnSpc>
                <a:spcPct val="118000"/>
              </a:lnSpc>
              <a:spcBef>
                <a:spcPts val="800"/>
              </a:spcBef>
            </a:pPr>
            <a:r>
              <a:rPr sz="1050" b="0" i="0" dirty="0">
                <a:solidFill>
                  <a:srgbClr val="5A5673"/>
                </a:solidFill>
                <a:latin typeface="Arial"/>
              </a:rPr>
              <a:t>Sign off the unit, event date, metric definition, validation and reschedule rules, the dashboard-to-row bridge, and Bangalore/Bengaluru.</a:t>
            </a:r>
          </a:p>
        </p:txBody>
      </p:sp>
      <p:sp>
        <p:nvSpPr>
          <p:cNvPr id="11" name="Rounded Rectangle 10"/>
          <p:cNvSpPr/>
          <p:nvPr/>
        </p:nvSpPr>
        <p:spPr>
          <a:xfrm>
            <a:off x="3259200" y="1700000"/>
            <a:ext cx="2650000" cy="2330000"/>
          </a:xfrm>
          <a:prstGeom prst="roundRect">
            <a:avLst>
              <a:gd name="adj" fmla="val 4500"/>
            </a:avLst>
          </a:prstGeom>
          <a:solidFill>
            <a:srgbClr val="F3F1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3489200" y="1890000"/>
            <a:ext cx="2190000" cy="1635641"/>
          </a:xfrm>
          <a:prstGeom prst="rect">
            <a:avLst/>
          </a:prstGeom>
          <a:noFill/>
        </p:spPr>
        <p:txBody>
          <a:bodyPr wrap="square" lIns="0" tIns="0" rIns="0" bIns="0" anchor="t">
            <a:spAutoFit/>
          </a:bodyPr>
          <a:lstStyle/>
          <a:p>
            <a:pPr algn="l"/>
            <a:r>
              <a:rPr sz="1400" b="1" i="0" dirty="0">
                <a:solidFill>
                  <a:srgbClr val="4E38AB"/>
                </a:solidFill>
                <a:latin typeface="Arial"/>
              </a:rPr>
              <a:t>2</a:t>
            </a:r>
          </a:p>
          <a:p>
            <a:pPr algn="l">
              <a:lnSpc>
                <a:spcPct val="110000"/>
              </a:lnSpc>
              <a:spcBef>
                <a:spcPts val="100"/>
              </a:spcBef>
            </a:pPr>
            <a:r>
              <a:rPr sz="1400" b="1" i="0" dirty="0">
                <a:solidFill>
                  <a:srgbClr val="1A1440"/>
                </a:solidFill>
                <a:latin typeface="Arial"/>
              </a:rPr>
              <a:t>RERUN THE ANALYSIS</a:t>
            </a:r>
          </a:p>
          <a:p>
            <a:pPr algn="l">
              <a:lnSpc>
                <a:spcPct val="115000"/>
              </a:lnSpc>
              <a:spcBef>
                <a:spcPts val="900"/>
              </a:spcBef>
            </a:pPr>
            <a:r>
              <a:rPr sz="1050" b="0" i="0" dirty="0">
                <a:solidFill>
                  <a:srgbClr val="4E38AB"/>
                </a:solidFill>
                <a:latin typeface="Arial"/>
              </a:rPr>
              <a:t>Data/BI + analyst</a:t>
            </a:r>
          </a:p>
          <a:p>
            <a:pPr algn="l">
              <a:lnSpc>
                <a:spcPct val="115000"/>
              </a:lnSpc>
              <a:spcBef>
                <a:spcPts val="200"/>
              </a:spcBef>
            </a:pPr>
            <a:r>
              <a:rPr sz="1050" b="1" i="0" dirty="0">
                <a:solidFill>
                  <a:srgbClr val="5A5673"/>
                </a:solidFill>
                <a:latin typeface="Arial"/>
              </a:rPr>
              <a:t>One analyst day</a:t>
            </a:r>
          </a:p>
          <a:p>
            <a:pPr algn="l">
              <a:lnSpc>
                <a:spcPct val="118000"/>
              </a:lnSpc>
              <a:spcBef>
                <a:spcPts val="800"/>
              </a:spcBef>
            </a:pPr>
            <a:r>
              <a:rPr sz="1050" b="0" i="0" dirty="0">
                <a:solidFill>
                  <a:srgbClr val="5A5673"/>
                </a:solidFill>
                <a:latin typeface="Arial"/>
              </a:rPr>
              <a:t>Rerun every number on the signed rule, and re-test the city-alias sensitivity against it.</a:t>
            </a:r>
          </a:p>
        </p:txBody>
      </p:sp>
      <p:sp>
        <p:nvSpPr>
          <p:cNvPr id="13" name="Rounded Rectangle 12"/>
          <p:cNvSpPr/>
          <p:nvPr/>
        </p:nvSpPr>
        <p:spPr>
          <a:xfrm>
            <a:off x="6061200" y="1700000"/>
            <a:ext cx="2650000" cy="2330000"/>
          </a:xfrm>
          <a:prstGeom prst="roundRect">
            <a:avLst>
              <a:gd name="adj" fmla="val 4500"/>
            </a:avLst>
          </a:prstGeom>
          <a:solidFill>
            <a:srgbClr val="F3F1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6291200" y="1890000"/>
            <a:ext cx="2190000" cy="1700274"/>
          </a:xfrm>
          <a:prstGeom prst="rect">
            <a:avLst/>
          </a:prstGeom>
          <a:noFill/>
        </p:spPr>
        <p:txBody>
          <a:bodyPr wrap="square" lIns="0" tIns="0" rIns="0" bIns="0" anchor="t">
            <a:spAutoFit/>
          </a:bodyPr>
          <a:lstStyle/>
          <a:p>
            <a:pPr algn="l"/>
            <a:r>
              <a:rPr sz="1400" b="1" i="0" dirty="0">
                <a:solidFill>
                  <a:srgbClr val="4E38AB"/>
                </a:solidFill>
                <a:latin typeface="Arial"/>
              </a:rPr>
              <a:t>3</a:t>
            </a:r>
          </a:p>
          <a:p>
            <a:pPr algn="l">
              <a:lnSpc>
                <a:spcPct val="110000"/>
              </a:lnSpc>
              <a:spcBef>
                <a:spcPts val="100"/>
              </a:spcBef>
            </a:pPr>
            <a:r>
              <a:rPr sz="1400" b="1" i="0" dirty="0">
                <a:solidFill>
                  <a:srgbClr val="1A1440"/>
                </a:solidFill>
                <a:latin typeface="Arial"/>
              </a:rPr>
              <a:t>REVIEW CITY GAPS</a:t>
            </a:r>
          </a:p>
          <a:p>
            <a:pPr algn="l">
              <a:lnSpc>
                <a:spcPct val="115000"/>
              </a:lnSpc>
              <a:spcBef>
                <a:spcPts val="900"/>
              </a:spcBef>
            </a:pPr>
            <a:r>
              <a:rPr sz="1050" b="0" i="0" dirty="0">
                <a:solidFill>
                  <a:srgbClr val="4E38AB"/>
                </a:solidFill>
                <a:latin typeface="Arial"/>
              </a:rPr>
              <a:t>City heads, six cities</a:t>
            </a:r>
          </a:p>
          <a:p>
            <a:pPr algn="l">
              <a:lnSpc>
                <a:spcPct val="115000"/>
              </a:lnSpc>
              <a:spcBef>
                <a:spcPts val="200"/>
              </a:spcBef>
            </a:pPr>
            <a:r>
              <a:rPr sz="1050" b="1" i="0" dirty="0">
                <a:solidFill>
                  <a:srgbClr val="5A5673"/>
                </a:solidFill>
                <a:latin typeface="Arial"/>
              </a:rPr>
              <a:t>One-hour review</a:t>
            </a:r>
          </a:p>
          <a:p>
            <a:pPr algn="l">
              <a:lnSpc>
                <a:spcPct val="118000"/>
              </a:lnSpc>
              <a:spcBef>
                <a:spcPts val="800"/>
              </a:spcBef>
            </a:pPr>
            <a:r>
              <a:rPr sz="1050" b="0" i="0" dirty="0">
                <a:solidFill>
                  <a:srgbClr val="5A5673"/>
                </a:solidFill>
                <a:latin typeface="Arial"/>
              </a:rPr>
              <a:t>Walk the six shortfalls and their basis; confirm or correct the chart before it leaves the room.</a:t>
            </a:r>
          </a:p>
        </p:txBody>
      </p:sp>
      <p:sp>
        <p:nvSpPr>
          <p:cNvPr id="15" name="Rounded Rectangle 14"/>
          <p:cNvSpPr/>
          <p:nvPr/>
        </p:nvSpPr>
        <p:spPr>
          <a:xfrm>
            <a:off x="8863200" y="1700000"/>
            <a:ext cx="2650000" cy="2330000"/>
          </a:xfrm>
          <a:prstGeom prst="roundRect">
            <a:avLst>
              <a:gd name="adj" fmla="val 4500"/>
            </a:avLst>
          </a:prstGeom>
          <a:solidFill>
            <a:srgbClr val="F3F1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9093200" y="1890000"/>
            <a:ext cx="2190000" cy="1700274"/>
          </a:xfrm>
          <a:prstGeom prst="rect">
            <a:avLst/>
          </a:prstGeom>
          <a:noFill/>
        </p:spPr>
        <p:txBody>
          <a:bodyPr wrap="square" lIns="0" tIns="0" rIns="0" bIns="0" anchor="t">
            <a:spAutoFit/>
          </a:bodyPr>
          <a:lstStyle/>
          <a:p>
            <a:pPr algn="l"/>
            <a:r>
              <a:rPr sz="1400" b="1" i="0" dirty="0">
                <a:solidFill>
                  <a:srgbClr val="4E38AB"/>
                </a:solidFill>
                <a:latin typeface="Arial"/>
              </a:rPr>
              <a:t>4</a:t>
            </a:r>
          </a:p>
          <a:p>
            <a:pPr algn="l">
              <a:lnSpc>
                <a:spcPct val="110000"/>
              </a:lnSpc>
              <a:spcBef>
                <a:spcPts val="100"/>
              </a:spcBef>
            </a:pPr>
            <a:r>
              <a:rPr sz="1400" b="1" i="0" dirty="0">
                <a:solidFill>
                  <a:srgbClr val="1A1440"/>
                </a:solidFill>
                <a:latin typeface="Arial"/>
              </a:rPr>
              <a:t>DECIDE</a:t>
            </a:r>
          </a:p>
          <a:p>
            <a:pPr algn="l">
              <a:lnSpc>
                <a:spcPct val="115000"/>
              </a:lnSpc>
              <a:spcBef>
                <a:spcPts val="900"/>
              </a:spcBef>
            </a:pPr>
            <a:r>
              <a:rPr sz="1050" b="0" i="0" dirty="0">
                <a:solidFill>
                  <a:srgbClr val="4E38AB"/>
                </a:solidFill>
                <a:latin typeface="Arial"/>
              </a:rPr>
              <a:t>COO</a:t>
            </a:r>
          </a:p>
          <a:p>
            <a:pPr algn="l">
              <a:lnSpc>
                <a:spcPct val="115000"/>
              </a:lnSpc>
              <a:spcBef>
                <a:spcPts val="200"/>
              </a:spcBef>
            </a:pPr>
            <a:r>
              <a:rPr sz="1050" b="1" i="0" dirty="0">
                <a:solidFill>
                  <a:srgbClr val="5A5673"/>
                </a:solidFill>
                <a:latin typeface="Arial"/>
              </a:rPr>
              <a:t>Decision gate</a:t>
            </a:r>
          </a:p>
          <a:p>
            <a:pPr algn="l">
              <a:lnSpc>
                <a:spcPct val="118000"/>
              </a:lnSpc>
              <a:spcBef>
                <a:spcPts val="800"/>
              </a:spcBef>
            </a:pPr>
            <a:r>
              <a:rPr sz="1050" b="0" i="0" dirty="0">
                <a:solidFill>
                  <a:srgbClr val="5A5673"/>
                </a:solidFill>
                <a:latin typeface="Arial"/>
              </a:rPr>
              <a:t>Act on cities only once steps 1–3 close. Targets, staffing and reagent plans stay frozen until then.</a:t>
            </a:r>
          </a:p>
        </p:txBody>
      </p:sp>
      <p:sp>
        <p:nvSpPr>
          <p:cNvPr id="17" name="TextBox 16"/>
          <p:cNvSpPr txBox="1"/>
          <p:nvPr/>
        </p:nvSpPr>
        <p:spPr>
          <a:xfrm>
            <a:off x="3147200" y="2720000"/>
            <a:ext cx="100000" cy="300000"/>
          </a:xfrm>
          <a:prstGeom prst="rect">
            <a:avLst/>
          </a:prstGeom>
          <a:noFill/>
        </p:spPr>
        <p:txBody>
          <a:bodyPr wrap="square" lIns="0" tIns="0" rIns="0" bIns="0" anchor="ctr">
            <a:spAutoFit/>
          </a:bodyPr>
          <a:lstStyle/>
          <a:p>
            <a:pPr algn="ctr"/>
            <a:r>
              <a:rPr sz="2000" b="1" i="0">
                <a:solidFill>
                  <a:srgbClr val="D9D4EE"/>
                </a:solidFill>
                <a:latin typeface="Arial"/>
              </a:rPr>
              <a:t>›</a:t>
            </a:r>
          </a:p>
        </p:txBody>
      </p:sp>
      <p:sp>
        <p:nvSpPr>
          <p:cNvPr id="18" name="TextBox 17"/>
          <p:cNvSpPr txBox="1"/>
          <p:nvPr/>
        </p:nvSpPr>
        <p:spPr>
          <a:xfrm>
            <a:off x="5949200" y="2720000"/>
            <a:ext cx="100000" cy="300000"/>
          </a:xfrm>
          <a:prstGeom prst="rect">
            <a:avLst/>
          </a:prstGeom>
          <a:noFill/>
        </p:spPr>
        <p:txBody>
          <a:bodyPr wrap="square" lIns="0" tIns="0" rIns="0" bIns="0" anchor="ctr">
            <a:spAutoFit/>
          </a:bodyPr>
          <a:lstStyle/>
          <a:p>
            <a:pPr algn="ctr"/>
            <a:r>
              <a:rPr sz="2000" b="1" i="0">
                <a:solidFill>
                  <a:srgbClr val="D9D4EE"/>
                </a:solidFill>
                <a:latin typeface="Arial"/>
              </a:rPr>
              <a:t>›</a:t>
            </a:r>
          </a:p>
        </p:txBody>
      </p:sp>
      <p:sp>
        <p:nvSpPr>
          <p:cNvPr id="19" name="TextBox 18"/>
          <p:cNvSpPr txBox="1"/>
          <p:nvPr/>
        </p:nvSpPr>
        <p:spPr>
          <a:xfrm>
            <a:off x="8751200" y="2720000"/>
            <a:ext cx="100000" cy="300000"/>
          </a:xfrm>
          <a:prstGeom prst="rect">
            <a:avLst/>
          </a:prstGeom>
          <a:noFill/>
        </p:spPr>
        <p:txBody>
          <a:bodyPr wrap="square" lIns="0" tIns="0" rIns="0" bIns="0" anchor="ctr">
            <a:spAutoFit/>
          </a:bodyPr>
          <a:lstStyle/>
          <a:p>
            <a:pPr algn="ctr"/>
            <a:r>
              <a:rPr sz="2000" b="1" i="0">
                <a:solidFill>
                  <a:srgbClr val="D9D4EE"/>
                </a:solidFill>
                <a:latin typeface="Arial"/>
              </a:rPr>
              <a:t>›</a:t>
            </a:r>
          </a:p>
        </p:txBody>
      </p:sp>
      <p:sp>
        <p:nvSpPr>
          <p:cNvPr id="20" name="Rounded Rectangle 19"/>
          <p:cNvSpPr/>
          <p:nvPr/>
        </p:nvSpPr>
        <p:spPr>
          <a:xfrm>
            <a:off x="457200" y="4270000"/>
            <a:ext cx="11247600" cy="640000"/>
          </a:xfrm>
          <a:prstGeom prst="roundRect">
            <a:avLst>
              <a:gd name="adj" fmla="val 4500"/>
            </a:avLst>
          </a:prstGeom>
          <a:solidFill>
            <a:srgbClr val="FFFFFF"/>
          </a:solidFill>
          <a:ln w="22225">
            <a:solidFill>
              <a:srgbClr val="A62B3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757200" y="4451500"/>
            <a:ext cx="10647600" cy="276999"/>
          </a:xfrm>
          <a:prstGeom prst="rect">
            <a:avLst/>
          </a:prstGeom>
          <a:noFill/>
        </p:spPr>
        <p:txBody>
          <a:bodyPr wrap="square" lIns="0" tIns="0" rIns="0" bIns="0" anchor="ctr">
            <a:spAutoFit/>
          </a:bodyPr>
          <a:lstStyle/>
          <a:p>
            <a:pPr algn="ctr"/>
            <a:r>
              <a:rPr b="1" i="0" dirty="0">
                <a:solidFill>
                  <a:srgbClr val="A62B3E"/>
                </a:solidFill>
                <a:latin typeface="Arial"/>
              </a:rPr>
              <a:t>HOLD  ·  No city-target, staffing or reagent-plan change before sign-off.</a:t>
            </a:r>
          </a:p>
        </p:txBody>
      </p:sp>
      <p:sp>
        <p:nvSpPr>
          <p:cNvPr id="22" name="TextBox 21"/>
          <p:cNvSpPr txBox="1"/>
          <p:nvPr/>
        </p:nvSpPr>
        <p:spPr>
          <a:xfrm>
            <a:off x="457200" y="5110000"/>
            <a:ext cx="11247600" cy="527132"/>
          </a:xfrm>
          <a:prstGeom prst="rect">
            <a:avLst/>
          </a:prstGeom>
          <a:noFill/>
        </p:spPr>
        <p:txBody>
          <a:bodyPr wrap="square" lIns="0" tIns="0" rIns="0" bIns="0" anchor="t">
            <a:spAutoFit/>
          </a:bodyPr>
          <a:lstStyle/>
          <a:p>
            <a:pPr algn="l"/>
            <a:r>
              <a:rPr sz="1400" b="1" i="0" dirty="0">
                <a:solidFill>
                  <a:srgbClr val="1A1440"/>
                </a:solidFill>
                <a:latin typeface="Arial"/>
              </a:rPr>
              <a:t>It costs: one analyst day plus a one-hour owner review — against a 60,357-line decision.</a:t>
            </a:r>
          </a:p>
          <a:p>
            <a:pPr algn="l">
              <a:lnSpc>
                <a:spcPct val="120000"/>
              </a:lnSpc>
              <a:spcBef>
                <a:spcPts val="600"/>
              </a:spcBef>
            </a:pPr>
            <a:r>
              <a:rPr sz="1400" b="0" i="0" dirty="0">
                <a:solidFill>
                  <a:srgbClr val="5A5673"/>
                </a:solidFill>
                <a:latin typeface="Arial"/>
              </a:rPr>
              <a:t>With two more days: reconcile the dashboard-to-row bridge and rerun the alias sensitivity on the signed rule — before any city conversation</a:t>
            </a:r>
            <a:r>
              <a:rPr sz="1050" b="0" i="0" dirty="0">
                <a:solidFill>
                  <a:srgbClr val="5A5673"/>
                </a:solidFill>
                <a:latin typeface="Arial"/>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1551</Words>
  <Application>Microsoft Office PowerPoint</Application>
  <PresentationFormat>Widescreen</PresentationFormat>
  <Paragraphs>134</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harsh</dc:creator>
  <cp:keywords/>
  <dc:description>generated using python-pptx</dc:description>
  <cp:lastModifiedBy>harshvardhan raj</cp:lastModifiedBy>
  <cp:revision>2</cp:revision>
  <dcterms:created xsi:type="dcterms:W3CDTF">2013-01-27T09:14:16Z</dcterms:created>
  <dcterms:modified xsi:type="dcterms:W3CDTF">2026-10-24T18:20:30Z</dcterms:modified>
  <cp:category/>
</cp:coreProperties>
</file>